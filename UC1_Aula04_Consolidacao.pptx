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esse mapa como abertura visual. Perguntar: 'alguem consegue explicar cada ramo em 1 frase?' Testar compreensao geral antes do quiz.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Pontuacao: Q1-Q7 = 1 ponto cada (7 pts). Q8 = 2 pts. Q9 = 3 pts. Q10 = 2 pts. Total: 14 pontos. Acima de 10 = Atendido. Abaixo de 7 = precisa recuperacao. Nao e nota formal — e diagnostico.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Ler cada resposta em voz alta. Pedir que alunos expliquem POR QUE a resposta e essa. Q2 e Q6 sao as que mais geram confusao — dedicar mais tempo. Q6: explicar que Project Manager e do PMBOK/Waterfall, nao do SCRUM.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Perguntar: 'Quem errou a Q2? Nao tem problema — vamos entender por que.' Normalizar o erro como parte do aprendizado. Marcas Formativas: visao critica, aprimoramento continuo.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Docente: circular a cada 7-8 min entre os grupos. Fazer perguntas provocativas: 'esse requisito e testavel?', 'quem e o usuario principal?', 'o que acontece se der errado?'. Nao dar respostas — fazer perguntas que levam a resposta.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Esses indicadores vem do Plano de Curso oficial (doc. do Senac). Sao os 3 indicadores da UC1. A avaliacao parcial (A/PA/NA) e registrada agora. A avaliacao final (D/ND) so no dia 19/09.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914400"/>
            <a:ext cx="54864" cy="25603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914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 — Modulo 1 (Encerramento)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Consolidacao +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Avaliativo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— Tudo que aprendemos, testado e aplicado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474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de Setembro de 2025  |  Senac-RS  |  Tecnico em Desenvolvimento de Sistemas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"Revisao nao e repeticao — e consolidacao."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do Dia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115568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1155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097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fizemos esta semana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581912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645920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164592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16276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Avaliativo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6276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questoes sobre Modulo 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112264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176272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17627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215798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Revisao dos erros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15798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erramos e por que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642616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E8ECF1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2706624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270662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554480" y="26883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Intervalo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268833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 e pausa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172968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3236976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1C729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323697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554480" y="32186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do grupo: v1 completa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846320" y="32186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Consolidar tudo num documento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70332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3767328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1C729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48640" y="376732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554480" y="3749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Apresentacoes rapidas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846320" y="3749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grupo apresenta (5 min)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233672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48640" y="4297680"/>
            <a:ext cx="822960" cy="329184"/>
          </a:xfrm>
          <a:prstGeom prst="roundRect">
            <a:avLst>
              <a:gd name="adj" fmla="val 13889"/>
            </a:avLst>
          </a:prstGeom>
          <a:solidFill>
            <a:srgbClr val="1C7293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48640" y="429768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554480" y="42793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Transicao para Modulo 2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4846320" y="42793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vem na semana que vem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 |  UC1: Planejar o Desenvolvimento de Software  |  Senac-RS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do Modulo 1: Tudo que Vimos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0" y="192024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39C1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200400" y="19202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PROJETO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286000" cy="1280160"/>
          </a:xfrm>
          <a:prstGeom prst="roundRect">
            <a:avLst>
              <a:gd name="adj" fmla="val 5714"/>
            </a:avLst>
          </a:prstGeom>
          <a:solidFill>
            <a:srgbClr val="24315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65760" y="89611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3258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fases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&gt; Manutencao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0" y="822960"/>
            <a:ext cx="2286000" cy="1280160"/>
          </a:xfrm>
          <a:prstGeom prst="roundRect">
            <a:avLst>
              <a:gd name="adj" fmla="val 5714"/>
            </a:avLst>
          </a:prstGeom>
          <a:solidFill>
            <a:srgbClr val="24315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92240" y="89611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vs.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13258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vs COMO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Planejar vs Executar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3200400"/>
            <a:ext cx="2286000" cy="1280160"/>
          </a:xfrm>
          <a:prstGeom prst="roundRect">
            <a:avLst>
              <a:gd name="adj" fmla="val 5714"/>
            </a:avLst>
          </a:prstGeom>
          <a:solidFill>
            <a:srgbClr val="24315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5760" y="327355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" y="37033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RF, RNF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negocio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74720" y="3474720"/>
            <a:ext cx="2286000" cy="1280160"/>
          </a:xfrm>
          <a:prstGeom prst="roundRect">
            <a:avLst>
              <a:gd name="adj" fmla="val 5714"/>
            </a:avLst>
          </a:prstGeom>
          <a:solidFill>
            <a:srgbClr val="24315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566160" y="354787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566160" y="39776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Stack, Arquitetura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escolha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0" y="3200400"/>
            <a:ext cx="2286000" cy="1280160"/>
          </a:xfrm>
          <a:prstGeom prst="roundRect">
            <a:avLst>
              <a:gd name="adj" fmla="val 5714"/>
            </a:avLst>
          </a:prstGeom>
          <a:solidFill>
            <a:srgbClr val="24315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92240" y="327355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Papeis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37033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PO, SM, Dev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UX, QA, DevOps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 |  UC1: Planejar o Desenvolvimento de Software  |  Senac-RS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28600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E74C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228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— Parte 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468880" y="228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Avaliativo do Modulo 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Responda individualmente no papel ou Google Forms. Sem consulta. 10 minutos.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35608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130759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e a fase do ciclo de vida que consome 70% do custo total de um software?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1664208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Desenvolvimento    |    b) Testes    |    c) Deploy    |    d) Manutencao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304288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2304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217627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requisito diz: 'O sistema deve ser rapido.' Isso e um requisito funcional, nao-funcional, ou NENHUM dos dois?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2532888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Funcional    |    b) Nao-funcional    |    c) Nenhum (e vago demais)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172968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304495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e a principal responsabilidade do Product Owner?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3401568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Escrever codigo    |    b) Facilitar reunioes    |    c) Priorizar o backlog e representar o cliente    |    d) Configurar servidores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4041648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391363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que fase do ciclo de vida voce decide qual linguagem e banco de dados usar?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" y="4270248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Requisitos    |    b) Design / Arquitetura    |    c) Desenvolvimento    |    d) Testes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 |  UC1: Planejar o Desenvolvimento de Software  |  Senac-RS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28600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E74C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228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— Parte 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468880" y="228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Avaliativo do Modulo 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07008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207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0789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'Frete gratis acima de R$ 100' e um exemplo de: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4813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Requisito funcional    |    b) Requisito nao-funcional    |    c) Regra de negocio    |    d) Caso de uso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8229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258568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258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1305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destes NAO e um papel no SCRUM?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5328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Product Owner    |    b) Scrum Master    |    c) Project Manager    |    d) Dev Team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8229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310128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1821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caso de uso descreve: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5844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A arquitetura do sistema    |    b) Uma interacao entre usuario e sistema    |    c) O codigo-fonte    |    d) O plano de testes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 |  UC1: Planejar o Desenvolvimento de Software  |  Senac-RS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28600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E74C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228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— Parte 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468880" y="228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Questoes Abertas (escrita)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Responda em 2-3 frases cada. Sem consulta. 10 minutos.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481328"/>
            <a:ext cx="548640" cy="54864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1481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3716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 a diferenca entre Projeto de Software e Engenharia de Software.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um exemplo pratico de cada.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0" y="1554480"/>
            <a:ext cx="777240" cy="365760"/>
          </a:xfrm>
          <a:prstGeom prst="roundRect">
            <a:avLst>
              <a:gd name="adj" fmla="val 125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0" y="155448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pontos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2578608"/>
            <a:ext cx="548640" cy="54864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2578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24688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Voce esta planejando um app de delivery de comida.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3 requisitos funcionais e 2 requisitos nao-funcionais.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0" y="2651760"/>
            <a:ext cx="777240" cy="365760"/>
          </a:xfrm>
          <a:prstGeom prst="roundRect">
            <a:avLst>
              <a:gd name="adj" fmla="val 12500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0" y="265176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pontos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47472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4360" y="3675888"/>
            <a:ext cx="548640" cy="54864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" y="3675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35661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reuniao de kick-off e considerada critica para o sucesso de um projeto?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 se ela nao for feita?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72400" y="3749040"/>
            <a:ext cx="777240" cy="365760"/>
          </a:xfrm>
          <a:prstGeom prst="roundRect">
            <a:avLst>
              <a:gd name="adj" fmla="val 12500"/>
            </a:avLst>
          </a:prstGeom>
          <a:solidFill>
            <a:srgbClr val="1C729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0" y="374904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pontos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 |  UC1: Planejar o Desenvolvimento de Software  |  Senac-RS</a:t>
            </a:r>
            <a:endParaRPr lang="en-US" sz="800" dirty="0"/>
          </a:p>
        </p:txBody>
      </p:sp>
      <p:sp>
        <p:nvSpPr>
          <p:cNvPr id="26" name="Text 23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 + Discussao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29768"/>
          </a:xfrm>
          <a:prstGeom prst="roundRect">
            <a:avLst>
              <a:gd name="adj" fmla="val 10638"/>
            </a:avLst>
          </a:prstGeom>
          <a:solidFill>
            <a:srgbClr val="243152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347472" cy="34747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051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03327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Manutencao (70% do custo total)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429768"/>
          </a:xfrm>
          <a:prstGeom prst="roundRect">
            <a:avLst>
              <a:gd name="adj" fmla="val 10638"/>
            </a:avLst>
          </a:prstGeom>
          <a:solidFill>
            <a:srgbClr val="243152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554480"/>
            <a:ext cx="347472" cy="347472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1554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53619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Nenhum — 'rapido' e vago demais. Precisa de metrica: '&lt; 2 segundos'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429768"/>
          </a:xfrm>
          <a:prstGeom prst="roundRect">
            <a:avLst>
              <a:gd name="adj" fmla="val 10638"/>
            </a:avLst>
          </a:prstGeom>
          <a:solidFill>
            <a:srgbClr val="243152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057400"/>
            <a:ext cx="347472" cy="34747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2057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03911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Priorizar o backlog e representar o cliente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514600"/>
            <a:ext cx="8229600" cy="429768"/>
          </a:xfrm>
          <a:prstGeom prst="roundRect">
            <a:avLst>
              <a:gd name="adj" fmla="val 10638"/>
            </a:avLst>
          </a:prstGeom>
          <a:solidFill>
            <a:srgbClr val="243152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2560320"/>
            <a:ext cx="347472" cy="34747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2560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254203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Design / Arquitetura — e onde se decide stack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8229600" cy="429768"/>
          </a:xfrm>
          <a:prstGeom prst="roundRect">
            <a:avLst>
              <a:gd name="adj" fmla="val 10638"/>
            </a:avLst>
          </a:prstGeom>
          <a:solidFill>
            <a:srgbClr val="243152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3063240"/>
            <a:ext cx="347472" cy="347472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3063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04495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Regra de negocio — restricao do cliente, nao da tecnologia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520440"/>
            <a:ext cx="8229600" cy="429768"/>
          </a:xfrm>
          <a:prstGeom prst="roundRect">
            <a:avLst>
              <a:gd name="adj" fmla="val 10638"/>
            </a:avLst>
          </a:prstGeom>
          <a:solidFill>
            <a:srgbClr val="243152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3566160"/>
            <a:ext cx="347472" cy="347472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3566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354787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Project Manager — SCRUM nao tem esse papel!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023360"/>
            <a:ext cx="8229600" cy="429768"/>
          </a:xfrm>
          <a:prstGeom prst="roundRect">
            <a:avLst>
              <a:gd name="adj" fmla="val 10638"/>
            </a:avLst>
          </a:prstGeom>
          <a:solidFill>
            <a:srgbClr val="243152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4069080"/>
            <a:ext cx="347472" cy="34747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48640" y="4069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051560" y="405079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Uma interacao entre usuario e sistema (ator + fluxo)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Q8, Q9 e Q10: discutir as respostas em voz alta. Docente comenta as melhores.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 |  UC1: Planejar o Desenvolvimento de Software  |  Senac-RS</a:t>
            </a:r>
            <a:endParaRPr lang="en-US" sz="800" dirty="0"/>
          </a:p>
        </p:txBody>
      </p:sp>
      <p:sp>
        <p:nvSpPr>
          <p:cNvPr id="34" name="Text 31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Mais Comuns (e como evitar)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94360" y="1088136"/>
            <a:ext cx="457200" cy="45720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088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0241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Confundir RF com RNF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2984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= acao ("o usuario deve poder..."). RNF = qualidade ("em menos de 2 segundos").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719072"/>
            <a:ext cx="82296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1801368"/>
            <a:ext cx="457200" cy="45720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1737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Escrever requisito vago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011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do "pode testar?": se nao da pra verificar com um teste, nao e requisito.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432304"/>
            <a:ext cx="82296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" y="2514600"/>
            <a:ext cx="457200" cy="45720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24505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Achar que SM e chefe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2724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 serve a equipe. Remove obstaculos. Nao manda, nao cobra, nao pune.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145536"/>
            <a:ext cx="82296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4360" y="3227832"/>
            <a:ext cx="457200" cy="45720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" y="3227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31638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Pular o Design e ir pro codigo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4381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Design = retrabalho caro. 1h de planejamento economiza 10h de codigo.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858768"/>
            <a:ext cx="822960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4360" y="3941064"/>
            <a:ext cx="457200" cy="45720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94360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38770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tech pela moda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188720" y="4151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Criterio: requisitos do projeto + experiencia da equipe + custo + comunidade.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 |  UC1: Planejar o Desenvolvimento de Software  |  Senac-RS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28600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27AE6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228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468880" y="2286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do Grupo: Versao 1 Completa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minutos — Consolide tudo que aprendeu num unico documento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3017520"/>
          </a:xfrm>
          <a:prstGeom prst="roundRect">
            <a:avLst>
              <a:gd name="adj" fmla="val 3030"/>
            </a:avLst>
          </a:prstGeom>
          <a:solidFill>
            <a:srgbClr val="24315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documento deve conter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1938528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19385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Descricao do Projeto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1920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Nome, objetivo (2 frases), por que e importante, quem sao os usuarios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1920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pagina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85800" y="2322576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23225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3042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Requisitos Funcionais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474720" y="23042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Escritos como historias de usuario: 'Como [ator], quero [acao], para [beneficio]'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0" y="230428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pagina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85800" y="2706624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5800" y="27066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268833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Requisitos Nao-Funcionais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474720" y="268833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seguranca, disponibilidade — com METRICAS concretas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0" y="268833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 pagina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85800" y="3090672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5800" y="30906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30723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Regras de Negocio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474720" y="307238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Restricoes do cliente/mercado que afetam o codigo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7498080" y="307238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 pagina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85800" y="3474720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85800" y="3474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188720" y="34564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Papeis da Equipe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3474720" y="34564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e PO, SM, Dev. Por que cada um nesse papel.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7498080" y="34564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1/4 pagina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85800" y="3858768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85800" y="38587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188720" y="3840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Inicial (chute educado)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3474720" y="3840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Frontend, backend, banco — com 1 frase de justificativa cada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7498080" y="3840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1/4 pagina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3 a 4 paginas  |  Google Docs  |  Compartilhar com docente ate fim da aula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 |  UC1: Planejar o Desenvolvimento de Software  |  Senac-RS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de Qualidade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entregar, passe por cada item. Se falhar em 1, ajuste.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286000" y="128016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RF e testavel? (da pra verificar se funciona)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286000" y="155448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RNF tem metrica? (numero, tempo, %)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286000" y="182880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requisito esta vago? (sem 'rapido', 'bonito', 'facil')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82296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0080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Negocio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246888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Vem do CLIENTE, nao da tecnologia?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286000" y="274320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Afetam a logica do codigo? (if/else no programa)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337560"/>
            <a:ext cx="82296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0080" y="3383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286000" y="338328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membro tem papel definido?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286000" y="365760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contribuiram? (ninguem ficou de fora)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251960"/>
            <a:ext cx="82296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40080" y="4297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286000" y="429768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justificativa? (por que essa tecnologia?)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2286000" y="457200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realista? (a equipe consegue aprender em 6 semanas?)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 |  UC1: Planejar o Desenvolvimento de Software  |  Senac-RS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10/18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de Trabalhar!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828800" y="1371600"/>
            <a:ext cx="5486400" cy="2286000"/>
          </a:xfrm>
          <a:prstGeom prst="roundRect">
            <a:avLst>
              <a:gd name="adj" fmla="val 6000"/>
            </a:avLst>
          </a:prstGeom>
          <a:solidFill>
            <a:srgbClr val="24315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828800" y="155448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minutos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2651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reunido  |  Google Docs aberto  |  Checklist ao lado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3108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 controla o tempo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prioriza o conteudo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 escrevem os requisitos tecnicos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 circula entre os grupos. Perguntem! Nao fiquem travados.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 |  UC1: Planejar o Desenvolvimento de Software  |  Senac-RS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11/18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28600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8E44A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228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APRESENTACOES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468880" y="228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Grupo Apresenta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38404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005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apresentar (5 min cada)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4630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do projeto e objetivo (30 seg)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830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sao os usuarios (30 seg)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1031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requisitos mais importantes (1 min)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4231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escolhido e por que (1 min)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7432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risco identificado (30 seg)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0632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aprenderam fazendo isso (30 seg)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914400"/>
            <a:ext cx="38404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029200" y="1005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turma avalia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sao claros e testaveis?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0" y="18105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faz sentido para o projeto?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0" y="215798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 que faltou? Sugira!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0" y="250545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construtivo: ideia, nao pessoa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0" y="28529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elogio + 1 sugestao por grupo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 do grupo apresenta. Todos devem estar preparados para responder perguntas.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 |  UC1: Planejar o Desenvolvimento de Software  |  Senac-RS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12/18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Avaliacao — Modulo 1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Avaliacao formativa (diagnostica) — nao reprova, mas sinaliza.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24315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 e documenta requisitos de projeto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acordo com as necessidades do cliente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0" y="146304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0" y="146304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14630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documento entregue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24315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4231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 tecnologias de desenvolvimento de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accordo com os requisitos do projeto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0" y="228600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29200" y="228600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22860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stack escolhido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24315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2971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2461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 metodologias de desenvolvimento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 o projeto de sistema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0" y="310896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029200" y="31089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035040" y="31089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kick-off e papeis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74904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24315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" y="3794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Participacao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0690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Colaboracao em equipe, comunicacao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assertiva, contribuicao equilibrada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0" y="393192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1C729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029200" y="39319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035040" y="39319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observacao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Mencao parcial: A (atendido) | PA (parcialmente) | NA (nao atendido)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 |  UC1: Planejar o Desenvolvimento de Software  |  Senac-RS</a:t>
            </a:r>
            <a:endParaRPr lang="en-US" sz="800" dirty="0"/>
          </a:p>
        </p:txBody>
      </p:sp>
      <p:sp>
        <p:nvSpPr>
          <p:cNvPr id="31" name="Text 28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13/18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Vem na Semana 2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2: Requisitos e Especificacoes em Profundidade (09-12/09)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44752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F39C1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417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 09/09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7190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286000" y="1508760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funcionais: como escrever bem, padroes, anti-padroes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267712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2240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 10/09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5420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6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2286000" y="2331720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nao-funcionais + Regras de negocio: metricas, exemplos, armadilhas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090672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063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 11/09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33649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7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2286000" y="3154680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uso: estrutura completa, fluxos alternativos, exercicio de escrita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913632"/>
            <a:ext cx="109728" cy="566928"/>
          </a:xfrm>
          <a:prstGeom prst="roundRect">
            <a:avLst>
              <a:gd name="adj" fmla="val 25000"/>
            </a:avLst>
          </a:prstGeom>
          <a:solidFill>
            <a:srgbClr val="27AE6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3886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12/09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187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8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2286000" y="3977640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Integracao + Revisao cruzada: documento de requisitos V2 completo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semana 2, voces vao REESCREVER o documento de requisitos com muito mais rigor. O que fizeram hoje e a versao 1.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 |  UC1: Planejar o Desenvolvimento de Software  |  Senac-RS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14/18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 vs. Semana 2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2560320"/>
          </a:xfrm>
          <a:prstGeom prst="roundRect">
            <a:avLst>
              <a:gd name="adj" fmla="val 3571"/>
            </a:avLst>
          </a:prstGeom>
          <a:solidFill>
            <a:srgbClr val="24315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097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 (voces fizeram isso)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 gerais (visao de cima)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562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O QUE sao requisitos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579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Conhecer os papeis de nome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4597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Montar 1a versao do projeto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7614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Experimentar kick-off simulado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063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Diagnostico: onde estou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1005840"/>
            <a:ext cx="3840480" cy="2560320"/>
          </a:xfrm>
          <a:prstGeom prst="roundRect">
            <a:avLst>
              <a:gd name="adj" fmla="val 3571"/>
            </a:avLst>
          </a:prstGeom>
          <a:solidFill>
            <a:srgbClr val="24315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029200" y="1097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2 (voces vao fazer isso)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Profundidade tecnica (visao de perto)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0" y="18562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ESCREVER requisitos profissionais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21579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Viver os papeis na pratica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0" y="24597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Refinar documento com feedback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0" y="27614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Revisao cruzada entre grupos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0" y="3063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V2: documento de mercado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371600" y="3840480"/>
            <a:ext cx="6400800" cy="502920"/>
          </a:xfrm>
          <a:prstGeom prst="roundRect">
            <a:avLst>
              <a:gd name="adj" fmla="val 14545"/>
            </a:avLst>
          </a:prstGeom>
          <a:solidFill>
            <a:srgbClr val="F39C1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371600" y="38404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visao panoramica para a lupa. De saber para FAZER.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 |  UC1: Planejar o Desenvolvimento de Software  |  Senac-RS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15/18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para o Fim de Semana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Entrega: segunda-feira 09/09, inicio da aula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60020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4447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o documento do grupo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7830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Aplique o checklist de qualidade. Corrija requisitos vagos. Adicione metricas nos RNF.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589520" y="1645920"/>
            <a:ext cx="914400" cy="365760"/>
          </a:xfrm>
          <a:prstGeom prst="roundRect">
            <a:avLst>
              <a:gd name="adj" fmla="val 12500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589520" y="1645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265176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4963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Pesquisar 1 software similar ao do grupo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28346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algo parecido no mercado? Qual? O que tem de bom? O que falta? Documente em 1 paragrafo.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589520" y="2697480"/>
            <a:ext cx="914400" cy="365760"/>
          </a:xfrm>
          <a:prstGeom prst="roundRect">
            <a:avLst>
              <a:gd name="adj" fmla="val 12500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589520" y="2697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47472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4360" y="370332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354787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Escrever 1 caso de uso completo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38862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o requisito funcional MAIS IMPORTANTE do projeto e escreva o caso de uso (ator, pre, fluxo, pos).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589520" y="3749040"/>
            <a:ext cx="914400" cy="365760"/>
          </a:xfrm>
          <a:prstGeom prst="roundRect">
            <a:avLst>
              <a:gd name="adj" fmla="val 12500"/>
            </a:avLst>
          </a:prstGeom>
          <a:solidFill>
            <a:srgbClr val="1C729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589520" y="3749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~1h20 de trabalho no fim de semana. Pode dividir entre os membros do grupo.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 |  UC1: Planejar o Desenvolvimento de Software  |  Senac-RS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16/18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da Semana 1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78992"/>
            <a:ext cx="109728" cy="512064"/>
          </a:xfrm>
          <a:prstGeom prst="roundRect">
            <a:avLst>
              <a:gd name="adj" fmla="val 25000"/>
            </a:avLst>
          </a:prstGeom>
          <a:solidFill>
            <a:srgbClr val="F39C1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0698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344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 + Ciclo de Vida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114300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Mapeamento de software real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856232"/>
            <a:ext cx="109728" cy="512064"/>
          </a:xfrm>
          <a:prstGeom prst="roundRect">
            <a:avLst>
              <a:gd name="adj" fmla="val 25000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18470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1214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+ Design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200400" y="192024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Analise de casos (Netflix, Banco)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633472"/>
            <a:ext cx="109728" cy="512064"/>
          </a:xfrm>
          <a:prstGeom prst="roundRect">
            <a:avLst>
              <a:gd name="adj" fmla="val 25000"/>
            </a:avLst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26243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28986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Papeis + Kick-off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200400" y="269748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 de kick-off + Reflexao carreira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33756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410712"/>
            <a:ext cx="109728" cy="512064"/>
          </a:xfrm>
          <a:prstGeom prst="roundRect">
            <a:avLst>
              <a:gd name="adj" fmla="val 25000"/>
            </a:avLst>
          </a:prstGeom>
          <a:solidFill>
            <a:srgbClr val="27AE6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34015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3675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Consolidacao + Quiz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200400" y="347472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v1 do projeto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20624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B2A4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" y="42062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12h concluidas  |  24h restantes  |  2 semanas para a entrega final  |  Voces estao no caminho certo!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617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 |  UC1: Planejar o Desenvolvimento de Software  |  Senac-RS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17/18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188720"/>
            <a:ext cx="54864" cy="22860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1887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1: voces aprenderam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pensar como planejadores.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031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2: voces vao aprender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escrever como profissionais.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004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fim de semana. Facam a tarefa.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UC1: Planejar o Desenvolvimento de Software  |  Senac-RS  | 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UC1 - Aula 04 - Consolidacao Modulo 1</dc:title>
  <dc:subject>PptxGenJS Presentation</dc:subject>
  <dc:creator>Senac-RS</dc:creator>
  <cp:lastModifiedBy>Senac-RS</cp:lastModifiedBy>
  <cp:revision>1</cp:revision>
  <dcterms:created xsi:type="dcterms:W3CDTF">2026-09-09T23:24:52Z</dcterms:created>
  <dcterms:modified xsi:type="dcterms:W3CDTF">2026-09-09T23:24:52Z</dcterms:modified>
</cp:coreProperties>
</file>