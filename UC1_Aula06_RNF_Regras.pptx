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do iceberg: cliente ve so a ponta (RF). Mas 80% do esforco esta embaixo (RNF). Se a base falha, tudo desmorona. Instagram cai = nao importa quao bonitos sao os filtros.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'Seu projeto ficticio e uma startup, um app corporativo ou escala massive?' Maioria sera startup. Isso SIMPLIFICA os RNF — nao precisa 99.99% uptime para um MVP. Calibrar expectativas.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cenario e DIRETAMENTE inspirado nos projetos Foccus/Just Go que o docente conhece. Usar como referencia real: 'isso nao e ficticio — empresas fazem isso todo dia.' Perguntar quais RNF seriam diferentes se fosse um e-commerce.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54864" cy="2560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Modulo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Nao-Funcionais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Regras de Negocio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— O invisivel que faz tudo funcionar (ou quebrar)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Setembro de 2025  |  Senac-RS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"Ninguem nota um RNF bem feito. Todo mundo nota quando falta."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15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Check historias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ficaram os RF reescritos?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459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em profundidade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Categorias, metricas, como medir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1226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7627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1762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vem, como documentar, impacto no codigo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ECF1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0662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688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688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e pausa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7296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3697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2369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Coleta de campo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e regras num app de pesquisa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67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767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Oficina: RNF + Regras do projeto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para o projeto do grupo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29768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297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+ Tarefa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Proximo: Casos de Uso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 RNF: Iceberg do Software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554480" y="1097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 (visivel ao usuario)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cadastro, busca, carrinho, pagamento, relatorios...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usuario VE e INTERAGE com isso.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2431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NAO-FUNCIONAIS (invisivel — mas sustenta tudo)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&lt; 2s de resposta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Seguranca: dados criptografados, LGPD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017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Escalabilidade: 10k usuarios simultaneos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Disponibilidade: 99.9% uptime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Acessibilidade: WCAG, leitores de tela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520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Manutenibilidade: codigo limpo, documentado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iceberg afundar (RNF falha), o usuario nem ve o RF funcionar.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6 Categorias de RNF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tem metricas especificas — sem numero, nao e RNF.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seg para carregar pagina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 para consulta no banco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seg para gerar relatorio PDF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258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obrigatorio (TLS 1.3)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com bcrypt (min 8 chars)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LGPD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3258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usuarios simultaneos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suporta 50M registros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Autoescala com Docker/K8s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(max 44 min down/mes)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Recuperacao &lt; 5 min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diario automatico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9260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27A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nivel AA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Navegavel por teclado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minimo 4.5:1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0" y="2834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26080"/>
            <a:ext cx="2423160" cy="365760"/>
          </a:xfrm>
          <a:prstGeom prst="roundRect">
            <a:avLst>
              <a:gd name="adj" fmla="val 12500"/>
            </a:avLst>
          </a:prstGeom>
          <a:solidFill>
            <a:srgbClr val="8E44A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testes &gt; 80%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 atualizada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automatizado (CI/CD)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um RNF Profissional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padrao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RNF-[numero]  |  Categoria: [Performance/Seguranca/...]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[Descricao com METRICA CONCRETA]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medir: [ferramenta ou metodo de verificacao]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0D33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EXEMPLO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RNF-003 | Categoria: Performance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deve carregar a pagina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em menos de 2 segundos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conexoes 4G ou superiores.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medir: Google Lighthouse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 &gt; 90 em Performance)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26060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3D15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EXEMPLO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0632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ser rapido."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Rapido quanto? 1s? 10s? 1 min?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 qual conexao?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Medido com que ferramenta?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Nao da pra testar = nao e RNF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com Numeros Reais do Mercado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para calibrar suas metricas (nao invente — pesquise!)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16352" y="1280160"/>
            <a:ext cx="18288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16352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MVP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18304" y="1280160"/>
            <a:ext cx="20116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18304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Corporativo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03136" y="1280160"/>
            <a:ext cx="21031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03136" y="1280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Massive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16352" y="178308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16352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8304" y="1783080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18304" y="1783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03136" y="1783080"/>
            <a:ext cx="2103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03136" y="17830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167128"/>
            <a:ext cx="228600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167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16352" y="2167128"/>
            <a:ext cx="182880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16352" y="2167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(7h down/mes)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18304" y="2167128"/>
            <a:ext cx="201168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18304" y="2167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(44 min/mes)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03136" y="2167128"/>
            <a:ext cx="210312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03136" y="2167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(4 min/mes)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551176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2551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simultaneos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16352" y="255117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816352" y="2551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100 - 1.000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18304" y="2551176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18304" y="25511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1.000 - 100.000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03136" y="2551176"/>
            <a:ext cx="2103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03136" y="25511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935224"/>
            <a:ext cx="228600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29352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16352" y="2935224"/>
            <a:ext cx="182880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816352" y="29352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basico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18304" y="2935224"/>
            <a:ext cx="201168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18304" y="29352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HTTPS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03136" y="2935224"/>
            <a:ext cx="210312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03136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+ HSM + Zero Trust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319272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7200" y="3319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816352" y="331927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816352" y="3319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manual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18304" y="3319272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18304" y="3319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Automatico a cada 6h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03136" y="3319272"/>
            <a:ext cx="2103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803136" y="3319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Replicacao em tempo real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703320"/>
            <a:ext cx="228600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5720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Recuperacao (RTO)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16352" y="3703320"/>
            <a:ext cx="182880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816352" y="3703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horas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718304" y="3703320"/>
            <a:ext cx="201168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718304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03136" y="3703320"/>
            <a:ext cx="2103120" cy="34747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803136" y="3703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087368"/>
            <a:ext cx="22860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57200" y="4087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816352" y="408736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2816352" y="4087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 (&gt; 40%)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18304" y="4087368"/>
            <a:ext cx="20116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718304" y="4087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(&gt; 70%)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03136" y="4087368"/>
            <a:ext cx="2103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803136" y="4087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Extensivo (&gt; 90%)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projeto se encaixa em qual coluna? A resposta define o nivel de exigencia dos RNF.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71" name="Text 6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Restricoes que vem do NEGOCIO, nao da tecnologia. Se mudar a regra, muda o codigo.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 regra de negocio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"Usar PostgreSQL" (decisao tecnica)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"Pagina deve carregar em 2s" (RNF)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"Interface responsiva" (RNF)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2431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regra de negocio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"Desconto max 30%" (politica comercial)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"Menores de 18 precisam de responsavel"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"Frete gratis acima de R$ 100"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39C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'Se essa regra mudar amanha, o CODIGO precisa mudar?' Se SIM = regra de negocio.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2431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vem as regras?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Legislacao (LGPD, CDC, CLT)  |  Politica da empresa  |  Contrato com cliente  |  Normas do setor  |  Regulacao governamental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Documentar Regras de Negocio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padrao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RN-[numero]  |  [Descricao clara e concisa]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[legislacao / politica da empresa / contrato]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no codigo: [qual logica muda se a regra mudar]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EEEEEE">
                <a:alpha val="2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313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13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gratis para pedidos acima de R$ 150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 comercial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32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(pedido.total &gt;= 150) frete = 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" dist="12700" dir="16200000">
              <a:srgbClr val="EEEEEE">
                <a:alpha val="2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28620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3 tentativas de login antes de bloqueio de 30 min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862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 de seguranca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815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tentativas + timeout no backend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EEEEEE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8640" y="3410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410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pesquisa eleitoral nao podem ser divulgados antes do registro no TSE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Legislacao eleitoral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63016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Restricao de acesso ao dashboard ate data de liberacao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12700" dist="12700" dir="16200000">
              <a:srgbClr val="EEEEEE">
                <a:alpha val="2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" y="3959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959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de 18 anos so pode cadastrar com autorizacao de responsavel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959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 (Estatuto da Crianca)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178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'CPF responsavel' obrigatorio se idade &lt; 18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numere as regras (RN-001, RN-002...) e referencie nos RF onde se aplicam.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Comparativo: RF vs RNF vs Regra de Negocio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6459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76272" y="1005840"/>
            <a:ext cx="201168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76272" y="1005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(Funcional)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61104" y="100584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61104" y="10058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(Nao-Funcional)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37376" y="100584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37376" y="10058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(Regra de Negocio)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16459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5087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76272" y="1508760"/>
            <a:ext cx="201168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76272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1104" y="1508760"/>
            <a:ext cx="21031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61104" y="15087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comporta?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37376" y="1508760"/>
            <a:ext cx="21031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37376" y="15087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RESTRICAO tem?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6459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0116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76272" y="2011680"/>
            <a:ext cx="201168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76272" y="20116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usuario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61104" y="201168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61104" y="20116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menos de 2 seg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37376" y="201168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37376" y="20116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de 18 anos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514600"/>
            <a:ext cx="16459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2514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define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76272" y="2514600"/>
            <a:ext cx="201168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176272" y="2514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Usuario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61104" y="2514600"/>
            <a:ext cx="21031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261104" y="25146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+ DevOps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37376" y="2514600"/>
            <a:ext cx="21031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37376" y="25146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+ Legislacao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017520"/>
            <a:ext cx="16459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3017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76272" y="3017520"/>
            <a:ext cx="201168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176272" y="30175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 nao existe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61104" y="301752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261104" y="30175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mas mal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37376" y="301752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37376" y="30175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mas errado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520440"/>
            <a:ext cx="16459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7200" y="3520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quando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76272" y="3520440"/>
            <a:ext cx="201168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176272" y="35204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muda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261104" y="3520440"/>
            <a:ext cx="21031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61104" y="3520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muda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37376" y="3520440"/>
            <a:ext cx="2103120" cy="438912"/>
          </a:xfrm>
          <a:prstGeom prst="rect">
            <a:avLst/>
          </a:prstGeom>
          <a:solidFill>
            <a:srgbClr val="1F2B4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37376" y="35204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Politica/lei muda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023360"/>
            <a:ext cx="16459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57200" y="402336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codigo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76272" y="4023360"/>
            <a:ext cx="201168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176272" y="40233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Funcoes, telas, APIs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261104" y="402336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261104" y="40233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infra, cache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37376" y="4023360"/>
            <a:ext cx="2103120" cy="438912"/>
          </a:xfrm>
          <a:prstGeom prst="rect">
            <a:avLst/>
          </a:prstGeom>
          <a:solidFill>
            <a:srgbClr val="24315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437376" y="40233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validacoes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tem seu lugar no documento. Nao misture.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Coleta de Dados de Campo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Cenario: Pesquisadores coletam opiniao publica em 5 municipios com tablets. Sem internet garantida.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Identificados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  App funciona 100% offline (PWA com Service Worker)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76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  Sync automatico quando encontrar WiFi (sem perda)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  Formulario carrega em &lt; 1 seg mesmo sem internet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  Bateria: app consome &lt; 5% bateria por hora de uso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  Dados criptografados em repouso no dispositivo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  Compativel com Android 9+ (tablets basicos)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828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  Cada pesquisador tem cota minima de 40 entrevistas/dia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RN-02  Dados nao podem ser acessados por pesquisador individual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5968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RN-03  Questionario nao aceita resposta em branco em campos obrigatorios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80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RN-04  Pesquisa so e valida se GPS registrou localizacao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364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RN-05  Dados consolidados devem estar disponiveis em 48h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Exercicio mental: quais desses RNF e RN se aplicam ao PROJETO DO SEU GRUPO?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A Regra de Negocio que Vale para TODOS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Geral de Protecao de Dados (Lei 13.709/2018) — vale desde set/2020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07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307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deve CONCORDAR antes de coletar dados pessoais. Checkbox nao pode vir marcado.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581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consentimento antes do cadastro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consentimento antes do cada...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431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947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 podem ser usados para o FIM declarado. Coletou pra pesquisa? Nao pode usar pra marketing.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221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separado ou tag de finalidade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separado ou tag de finalidade...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431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587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Minimizacao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2587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Colete APENAS o necessario. Nao peca CPF se nao precisa.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2862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formularios: cada campo tem justificativa?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0" y="265176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2651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formularios: cada campo tem...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431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Exclusao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pode pedir para APAGAR seus dados a qualquer momento.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502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'Excluir minha conta' obrigatoria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329184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3291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'Excluir minha conta' obriga...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24315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38679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devem ser protegidos contra acesso nao autorizado.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103120" y="41422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Criptografia, controle de acesso, logs de auditoria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3931920"/>
            <a:ext cx="2103120" cy="384048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2240" y="3931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Criptografia, controle de acesso, l...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seu projeto coleta dados pessoais: LGPD e regra de negocio OBRIGATORIA.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RNF + Regras do Seu Projeto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 — Adicionar ao documento do grupo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84708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288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Abram o documento v2 do grupo (Google Docs)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16712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1488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Adicionem secao 'Requisitos Nao-Funcionais' com MINIMO 5 RNF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48716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46888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RNF deve ter: numero, categoria, descricao COM METRICA, como medir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80720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7889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Adicionem secao 'Regras de Negocio' com MINIMO 3 regras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12724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1089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 deve ter: numero, descricao, origem, impacto no codigo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44728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4290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Verifiquem: o projeto coleta dados pessoais? Se sim, adicionem regras LGPD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376732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7490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 a tabela de numeros reais (slide 6) para calibrar suas metricas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5 RNF + 3 RN documentados profissionalmente ate o fim da aula.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RNF e Regra de Negocio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Nao-Funcional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RNF-___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64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Seguranca / ...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208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Descricao: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0208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 METRICA CONCRETA]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768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medir: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276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[ferramenta ou metodo]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32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532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2431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Negocio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1508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RN-___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764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Descricao: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[regra clara e concisa]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0208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0208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Legislacao / Politica / Contrato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22768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2276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[qual logica muda no codigo]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2532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afetados: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2532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RF-001, RF-003, 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3200400"/>
            <a:ext cx="4572000" cy="109728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286000" y="3291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aberto | Templates copiados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Seus RNF e RN Estao Prontos?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2412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RNF tem NUMERO concreto (tempo, %, quantidade)?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35608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356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4081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RNF tem metodo de medicao (ferramenta ou teste)?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19656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18196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179222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esta correta (Performance? Seguranca? Acessibilidade)?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57984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203704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2037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17627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RNF esta vago ("rapido", "seguro", "escalavel" sem metrica)?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587752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F39C1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25877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25603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 vem do negocio (nao da tecnologia)?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2971800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F39C1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29718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294436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 tem origem identificada (lei, politica, contrato)?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355848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F39C1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3558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32841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 indica qual RF e afetado?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694176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3739896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E74C3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37398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371246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coleta dados pessoais: LGPD esta contemplada?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78224"/>
            <a:ext cx="822960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123944"/>
            <a:ext cx="594360" cy="256032"/>
          </a:xfrm>
          <a:prstGeom prst="roundRect">
            <a:avLst>
              <a:gd name="adj" fmla="val 10714"/>
            </a:avLst>
          </a:prstGeom>
          <a:solidFill>
            <a:srgbClr val="4A556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41239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40965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e RN estao SEPARADOS dos RF no documento?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os checks passam: seu documento esta profissional. Se nao: ajuste antes de entregar.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Depois: RNF Reescrito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3D151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(v1)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ser seguro."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app tem que ser rapido."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"Precisa funcionar offline."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0D33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(v2)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4630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RNF-001 | Seguranca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criptografados em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repouso (AES-256) e em transito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(HTTPS/TLS 1.3). Senhas com bcrypt.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Medir: Teste de penetracao semestral.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RNF-002 | Performance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tela carrega em &lt; 2 seg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conexao 4G. API responde &lt; 500ms.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Medir: Lighthouse score &gt; 90.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RNF-003 | Disponibilidade Offline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funciona 100% sem internet.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sincronizam automaticamente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conexao for restabelecida.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Medir: Teste com modo aviao ativado.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intencao. Nivel de profissionalismo completamente diferente.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para Amanha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quarta 11/09, inicio da aula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53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RNF e Regras de Negocio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nao terminou em aula, complete. Minimo 5 RNF + 3 RN com formato completo.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55448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313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1 RF principal para caso de uso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651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 o RF MAIS importante do projeto? Amanha voces vao escrever o caso de uso completo dele.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514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sobre casos de uso (opcional)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material da Aula 02 sobre formato de caso de uso. Amanha aprofundamos.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347472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3474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607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60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3327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e o iceberg: invisivel mas sustenta tudo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276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002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categorias: Performance, Seguranca, Escalabilidade, Disponibilidade, Acessibilidade, Manutenibilidade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671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METRICA, nao e RNF — e desejo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7614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73405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negocio vem do NEGOCIO, nao da tecnologia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0098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'se mudar a regra, muda o codigo?' = regra de negocio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8953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791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obrigatoria se coleta dados pessoais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41148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1208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Amanha (11/09): Casos de Uso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profundidade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 |  UC1: Planejar o Desenvolvimento de Software  |  Senac-RS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Ninguem nota quando a seguranca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bem.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mundo nota quando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falha.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e o trabalho invisivel que faz tudo funcionar.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 |  Senac-RS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UC1 - Aula 06 - RNF e Regras de Negocio</dc:title>
  <dc:subject>PptxGenJS Presentation</dc:subject>
  <dc:creator>Senac-RS</dc:creator>
  <cp:lastModifiedBy>Senac-RS</cp:lastModifiedBy>
  <cp:revision>1</cp:revision>
  <dcterms:created xsi:type="dcterms:W3CDTF">2026-09-10T22:13:12Z</dcterms:created>
  <dcterms:modified xsi:type="dcterms:W3CDTF">2026-09-10T22:13:12Z</dcterms:modified>
</cp:coreProperties>
</file>