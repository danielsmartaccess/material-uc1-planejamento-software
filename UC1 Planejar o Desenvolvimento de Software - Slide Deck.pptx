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Aileron" charset="1" panose="00000500000000000000"/>
      <p:regular r:id="rId33"/>
    </p:embeddedFont>
    <p:embeddedFont>
      <p:font typeface="Aileron Bold" charset="1" panose="00000800000000000000"/>
      <p:regular r:id="rId34"/>
    </p:embeddedFont>
    <p:embeddedFont>
      <p:font typeface="Aileron Italics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43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50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54.pn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56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7.png" Type="http://schemas.openxmlformats.org/officeDocument/2006/relationships/image"/><Relationship Id="rId8" Target="../media/image68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1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72.pn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8.pn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Relationship Id="rId7" Target="../media/image81.png" Type="http://schemas.openxmlformats.org/officeDocument/2006/relationships/image"/><Relationship Id="rId8" Target="../media/image8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83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0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Relationship Id="rId8" Target="../media/image94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5.png" Type="http://schemas.openxmlformats.org/officeDocument/2006/relationships/image"/><Relationship Id="rId3" Target="../media/image96.png" Type="http://schemas.openxmlformats.org/officeDocument/2006/relationships/image"/><Relationship Id="rId4" Target="../media/image97.png" Type="http://schemas.openxmlformats.org/officeDocument/2006/relationships/image"/><Relationship Id="rId5" Target="../media/image98.png" Type="http://schemas.openxmlformats.org/officeDocument/2006/relationships/image"/><Relationship Id="rId6" Target="../media/image99.png" Type="http://schemas.openxmlformats.org/officeDocument/2006/relationships/image"/><Relationship Id="rId7" Target="../media/image10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5.png" Type="http://schemas.openxmlformats.org/officeDocument/2006/relationships/image"/><Relationship Id="rId12" Target="../media/image6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01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6.png" Type="http://schemas.openxmlformats.org/officeDocument/2006/relationships/image"/><Relationship Id="rId5" Target="../media/image107.png" Type="http://schemas.openxmlformats.org/officeDocument/2006/relationships/image"/><Relationship Id="rId6" Target="../media/image108.png" Type="http://schemas.openxmlformats.org/officeDocument/2006/relationships/image"/><Relationship Id="rId7" Target="../media/image109.png" Type="http://schemas.openxmlformats.org/officeDocument/2006/relationships/image"/><Relationship Id="rId8" Target="../media/image11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2.png" Type="http://schemas.openxmlformats.org/officeDocument/2006/relationships/image"/><Relationship Id="rId11" Target="../media/image38.png" Type="http://schemas.openxmlformats.org/officeDocument/2006/relationships/image"/><Relationship Id="rId12" Target="../media/image39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111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13.png" Type="http://schemas.openxmlformats.org/officeDocument/2006/relationships/image"/><Relationship Id="rId7" Target="../media/image114.png" Type="http://schemas.openxmlformats.org/officeDocument/2006/relationships/image"/><Relationship Id="rId8" Target="../media/image115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7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png" Type="http://schemas.openxmlformats.org/officeDocument/2006/relationships/image"/><Relationship Id="rId11" Target="../media/image125.png" Type="http://schemas.openxmlformats.org/officeDocument/2006/relationships/image"/><Relationship Id="rId12" Target="../media/image38.png" Type="http://schemas.openxmlformats.org/officeDocument/2006/relationships/image"/><Relationship Id="rId13" Target="../media/image39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118.png" Type="http://schemas.openxmlformats.org/officeDocument/2006/relationships/image"/><Relationship Id="rId5" Target="../media/image119.svg" Type="http://schemas.openxmlformats.org/officeDocument/2006/relationships/image"/><Relationship Id="rId6" Target="../media/image120.png" Type="http://schemas.openxmlformats.org/officeDocument/2006/relationships/image"/><Relationship Id="rId7" Target="../media/image121.svg" Type="http://schemas.openxmlformats.org/officeDocument/2006/relationships/image"/><Relationship Id="rId8" Target="../media/image122.png" Type="http://schemas.openxmlformats.org/officeDocument/2006/relationships/image"/><Relationship Id="rId9" Target="../media/image1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13765">
            <a:off x="10846414" y="-2305152"/>
            <a:ext cx="6373811" cy="9913282"/>
          </a:xfrm>
          <a:custGeom>
            <a:avLst/>
            <a:gdLst/>
            <a:ahLst/>
            <a:cxnLst/>
            <a:rect r="r" b="b" t="t" l="l"/>
            <a:pathLst>
              <a:path h="9913282" w="6373811">
                <a:moveTo>
                  <a:pt x="0" y="0"/>
                </a:moveTo>
                <a:lnTo>
                  <a:pt x="6373811" y="0"/>
                </a:lnTo>
                <a:lnTo>
                  <a:pt x="6373811" y="9913282"/>
                </a:lnTo>
                <a:lnTo>
                  <a:pt x="0" y="99132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4717" y="5497173"/>
            <a:ext cx="14622731" cy="77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1"/>
              </a:lnSpc>
            </a:pPr>
            <a:r>
              <a:rPr lang="en-US" sz="6246" spc="-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Aula 12 — O último encontro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6715433" y="770845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6310" y="3452334"/>
            <a:ext cx="6060353" cy="2286028"/>
            <a:chOff x="0" y="0"/>
            <a:chExt cx="1365031" cy="5149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5032" cy="514904"/>
            </a:xfrm>
            <a:custGeom>
              <a:avLst/>
              <a:gdLst/>
              <a:ahLst/>
              <a:cxnLst/>
              <a:rect r="r" b="b" t="t" l="l"/>
              <a:pathLst>
                <a:path h="514904" w="1365032">
                  <a:moveTo>
                    <a:pt x="0" y="0"/>
                  </a:moveTo>
                  <a:lnTo>
                    <a:pt x="1365032" y="0"/>
                  </a:lnTo>
                  <a:lnTo>
                    <a:pt x="1365032" y="514904"/>
                  </a:lnTo>
                  <a:lnTo>
                    <a:pt x="0" y="514904"/>
                  </a:ln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365031" cy="476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625874" y="-1605742"/>
            <a:ext cx="4821187" cy="9293854"/>
          </a:xfrm>
          <a:custGeom>
            <a:avLst/>
            <a:gdLst/>
            <a:ahLst/>
            <a:cxnLst/>
            <a:rect r="r" b="b" t="t" l="l"/>
            <a:pathLst>
              <a:path h="9293854" w="4821187">
                <a:moveTo>
                  <a:pt x="0" y="0"/>
                </a:moveTo>
                <a:lnTo>
                  <a:pt x="4821187" y="0"/>
                </a:lnTo>
                <a:lnTo>
                  <a:pt x="4821187" y="9293854"/>
                </a:lnTo>
                <a:lnTo>
                  <a:pt x="0" y="9293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339" y="3251976"/>
            <a:ext cx="5943157" cy="219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21"/>
              </a:lnSpc>
            </a:pPr>
            <a:r>
              <a:rPr lang="en-US" b="true" sz="6246" spc="-4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STACK, CARREIRA E FECHAMENTO DA UC1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22" y="754227"/>
            <a:ext cx="1385710" cy="16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9236" y="8755730"/>
            <a:ext cx="4250064" cy="31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  <a:p>
            <a:pPr algn="r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UC1 — Último Encontro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299" y="8755730"/>
            <a:ext cx="4250064" cy="31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Data:</a:t>
            </a:r>
          </a:p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19/09/2025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8112" y="8934357"/>
            <a:ext cx="5320974" cy="31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"Vocês passaram 33 horas aprendendo a planejar. Hoje é o dia de amarrar tudo — e de se preparar para quem vai avaliar vocês lá fora: o mercado."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381584">
            <a:off x="11617220" y="-1891933"/>
            <a:ext cx="7307094" cy="9584801"/>
          </a:xfrm>
          <a:custGeom>
            <a:avLst/>
            <a:gdLst/>
            <a:ahLst/>
            <a:cxnLst/>
            <a:rect r="r" b="b" t="t" l="l"/>
            <a:pathLst>
              <a:path h="9584801" w="7307094">
                <a:moveTo>
                  <a:pt x="0" y="0"/>
                </a:moveTo>
                <a:lnTo>
                  <a:pt x="7307095" y="0"/>
                </a:lnTo>
                <a:lnTo>
                  <a:pt x="7307095" y="9584802"/>
                </a:lnTo>
                <a:lnTo>
                  <a:pt x="0" y="9584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046248"/>
            <a:ext cx="5098779" cy="5394624"/>
            <a:chOff x="0" y="0"/>
            <a:chExt cx="1342888" cy="1420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61805" y="4046248"/>
            <a:ext cx="5098779" cy="5394624"/>
            <a:chOff x="0" y="0"/>
            <a:chExt cx="1342888" cy="1420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60521" y="4046248"/>
            <a:ext cx="5098779" cy="5394624"/>
            <a:chOff x="0" y="0"/>
            <a:chExt cx="1342888" cy="14208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78612" y="4556106"/>
            <a:ext cx="2491152" cy="2226708"/>
            <a:chOff x="0" y="0"/>
            <a:chExt cx="909328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4" r="0" b="-13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2622" y="831195"/>
            <a:ext cx="1405991" cy="2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2"/>
              </a:lnSpc>
            </a:pPr>
            <a:r>
              <a:rPr lang="en-US" b="true" sz="2398" spc="-18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205887"/>
            <a:ext cx="10483039" cy="1104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94"/>
              </a:lnSpc>
            </a:pPr>
            <a:r>
              <a:rPr lang="en-US" sz="8994" spc="-5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Agenda do Dia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6762" y="4506624"/>
            <a:ext cx="1520382" cy="104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26762" y="7270884"/>
            <a:ext cx="3538070" cy="36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Abertura + Stack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762" y="8215759"/>
            <a:ext cx="3946285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15 min — Abertura + De onde viemos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20 min — Recap + Checklist de Stack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20 min — Exercício: travar Stack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10 min — Intervalo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774349" y="4556106"/>
            <a:ext cx="2491152" cy="2226708"/>
            <a:chOff x="0" y="0"/>
            <a:chExt cx="909328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34" r="0" b="-13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022499" y="4506624"/>
            <a:ext cx="1520382" cy="104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022499" y="7270884"/>
            <a:ext cx="4243002" cy="36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Carreira + Atividades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22499" y="8215759"/>
            <a:ext cx="3946285" cy="6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60 min — Planejamento de Carreira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20 min — Currículo Relâmpago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20 min — Simulação de Entrevista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340260" y="4373534"/>
            <a:ext cx="2491152" cy="2226708"/>
            <a:chOff x="0" y="0"/>
            <a:chExt cx="909328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34" r="0" b="-134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588410" y="4506624"/>
            <a:ext cx="1520382" cy="104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588410" y="7270884"/>
            <a:ext cx="3538070" cy="73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Avaliação + Encerramento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8410" y="8215759"/>
            <a:ext cx="3946285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10 min — Avaliação + Menções + Encerramento da UC1</a:t>
            </a:r>
          </a:p>
          <a:p>
            <a:pPr algn="l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5 min — Reflexão final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699757" y="730773"/>
            <a:ext cx="571459" cy="783153"/>
          </a:xfrm>
          <a:custGeom>
            <a:avLst/>
            <a:gdLst/>
            <a:ahLst/>
            <a:cxnLst/>
            <a:rect r="r" b="b" t="t" l="l"/>
            <a:pathLst>
              <a:path h="783153" w="571459">
                <a:moveTo>
                  <a:pt x="0" y="0"/>
                </a:moveTo>
                <a:lnTo>
                  <a:pt x="571459" y="0"/>
                </a:lnTo>
                <a:lnTo>
                  <a:pt x="571459" y="783153"/>
                </a:lnTo>
                <a:lnTo>
                  <a:pt x="0" y="7831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304712" y="2704018"/>
            <a:ext cx="34857347" cy="5402889"/>
          </a:xfrm>
          <a:custGeom>
            <a:avLst/>
            <a:gdLst/>
            <a:ahLst/>
            <a:cxnLst/>
            <a:rect r="r" b="b" t="t" l="l"/>
            <a:pathLst>
              <a:path h="5402889" w="34857347">
                <a:moveTo>
                  <a:pt x="0" y="0"/>
                </a:moveTo>
                <a:lnTo>
                  <a:pt x="34857347" y="0"/>
                </a:lnTo>
                <a:lnTo>
                  <a:pt x="34857347" y="5402889"/>
                </a:lnTo>
                <a:lnTo>
                  <a:pt x="0" y="5402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9678" y="4202165"/>
            <a:ext cx="444354" cy="44435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23489" y="4335976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74168" y="6517768"/>
            <a:ext cx="444354" cy="4443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07979" y="6651579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112134" y="6517768"/>
            <a:ext cx="444354" cy="44435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245945" y="6651579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112134" y="4094800"/>
            <a:ext cx="444354" cy="44435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245945" y="4228611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864950" y="3992700"/>
            <a:ext cx="4823849" cy="3976804"/>
          </a:xfrm>
          <a:custGeom>
            <a:avLst/>
            <a:gdLst/>
            <a:ahLst/>
            <a:cxnLst/>
            <a:rect r="r" b="b" t="t" l="l"/>
            <a:pathLst>
              <a:path h="3976804" w="4823849">
                <a:moveTo>
                  <a:pt x="0" y="0"/>
                </a:moveTo>
                <a:lnTo>
                  <a:pt x="4823849" y="0"/>
                </a:lnTo>
                <a:lnTo>
                  <a:pt x="4823849" y="3976804"/>
                </a:lnTo>
                <a:lnTo>
                  <a:pt x="0" y="3976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27748" y="7019272"/>
            <a:ext cx="3425202" cy="77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Requisitos, RNF</a:t>
            </a:r>
          </a:p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Regras de Negócio</a:t>
            </a:r>
          </a:p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Casos de Uso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2622" y="793095"/>
            <a:ext cx="1405991" cy="148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2"/>
              </a:lnSpc>
            </a:pPr>
            <a:r>
              <a:rPr lang="en-US" b="true" sz="1200" spc="-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3929" y="1693622"/>
            <a:ext cx="11001881" cy="441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8"/>
              </a:lnSpc>
            </a:pPr>
            <a:r>
              <a:rPr lang="en-US" sz="3576" spc="-21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 Onde Viemos: A Jornada da UC1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43257" y="4227298"/>
            <a:ext cx="2075484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Semana 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43257" y="4703669"/>
            <a:ext cx="2759196" cy="77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Fundamentos</a:t>
            </a:r>
          </a:p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Ciclo de Vida</a:t>
            </a:r>
          </a:p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Papéis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7748" y="6542901"/>
            <a:ext cx="2075484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Semana 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66038" y="6532282"/>
            <a:ext cx="22713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Semana 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65714" y="7019272"/>
            <a:ext cx="3534455" cy="77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Metodologias</a:t>
            </a:r>
          </a:p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SCRUM</a:t>
            </a:r>
          </a:p>
          <a:p>
            <a:pPr algn="l" marL="0" indent="0" lvl="0">
              <a:lnSpc>
                <a:spcPts val="2002"/>
              </a:lnSpc>
            </a:pPr>
            <a:r>
              <a:rPr lang="en-US" sz="2225" spc="-1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Sprint Planning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66038" y="4109313"/>
            <a:ext cx="22713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🎯 HOJE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65714" y="4558203"/>
            <a:ext cx="3534455" cy="40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3"/>
              </a:lnSpc>
            </a:pPr>
            <a:r>
              <a:rPr lang="en-US" sz="1550" spc="-5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Stack + Carreira</a:t>
            </a:r>
          </a:p>
          <a:p>
            <a:pPr algn="l" marL="334647" indent="-167324" lvl="1">
              <a:lnSpc>
                <a:spcPts val="1643"/>
              </a:lnSpc>
              <a:buFont typeface="Arial"/>
              <a:buChar char="•"/>
            </a:pPr>
            <a:r>
              <a:rPr lang="en-US" sz="1550" spc="-5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Fechamento da UC1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88900" y="8658983"/>
            <a:ext cx="811020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Aula 12 | UC1: Planejar o Desenvolvimento de Software | Senac-RS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25508" y="741130"/>
            <a:ext cx="586497" cy="595091"/>
          </a:xfrm>
          <a:custGeom>
            <a:avLst/>
            <a:gdLst/>
            <a:ahLst/>
            <a:cxnLst/>
            <a:rect r="r" b="b" t="t" l="l"/>
            <a:pathLst>
              <a:path h="595091" w="586497">
                <a:moveTo>
                  <a:pt x="0" y="0"/>
                </a:moveTo>
                <a:lnTo>
                  <a:pt x="586498" y="0"/>
                </a:lnTo>
                <a:lnTo>
                  <a:pt x="586498" y="595091"/>
                </a:lnTo>
                <a:lnTo>
                  <a:pt x="0" y="5950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620606" y="895480"/>
            <a:ext cx="750953" cy="443835"/>
          </a:xfrm>
          <a:custGeom>
            <a:avLst/>
            <a:gdLst/>
            <a:ahLst/>
            <a:cxnLst/>
            <a:rect r="r" b="b" t="t" l="l"/>
            <a:pathLst>
              <a:path h="443835" w="750953">
                <a:moveTo>
                  <a:pt x="0" y="0"/>
                </a:moveTo>
                <a:lnTo>
                  <a:pt x="750953" y="0"/>
                </a:lnTo>
                <a:lnTo>
                  <a:pt x="750953" y="443835"/>
                </a:lnTo>
                <a:lnTo>
                  <a:pt x="0" y="443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59639" y="1830023"/>
            <a:ext cx="4773478" cy="3691578"/>
            <a:chOff x="0" y="0"/>
            <a:chExt cx="1257212" cy="972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85822" y="1830023"/>
            <a:ext cx="4773478" cy="3691578"/>
            <a:chOff x="0" y="0"/>
            <a:chExt cx="1257212" cy="972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59639" y="5830902"/>
            <a:ext cx="4773478" cy="3691578"/>
            <a:chOff x="0" y="0"/>
            <a:chExt cx="1257212" cy="9722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85822" y="5830902"/>
            <a:ext cx="4773478" cy="3691578"/>
            <a:chOff x="0" y="0"/>
            <a:chExt cx="1257212" cy="972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60874" y="4203047"/>
            <a:ext cx="791495" cy="79149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91322" y="4203047"/>
            <a:ext cx="791495" cy="7914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60874" y="8151809"/>
            <a:ext cx="791495" cy="7914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91322" y="8151809"/>
            <a:ext cx="791495" cy="7914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279309" y="4440689"/>
            <a:ext cx="370346" cy="396092"/>
          </a:xfrm>
          <a:custGeom>
            <a:avLst/>
            <a:gdLst/>
            <a:ahLst/>
            <a:cxnLst/>
            <a:rect r="r" b="b" t="t" l="l"/>
            <a:pathLst>
              <a:path h="396092" w="370346">
                <a:moveTo>
                  <a:pt x="0" y="0"/>
                </a:moveTo>
                <a:lnTo>
                  <a:pt x="370346" y="0"/>
                </a:lnTo>
                <a:lnTo>
                  <a:pt x="370346" y="396092"/>
                </a:lnTo>
                <a:lnTo>
                  <a:pt x="0" y="396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067095" y="4210550"/>
            <a:ext cx="720556" cy="722478"/>
          </a:xfrm>
          <a:custGeom>
            <a:avLst/>
            <a:gdLst/>
            <a:ahLst/>
            <a:cxnLst/>
            <a:rect r="r" b="b" t="t" l="l"/>
            <a:pathLst>
              <a:path h="722478" w="720556">
                <a:moveTo>
                  <a:pt x="0" y="0"/>
                </a:moveTo>
                <a:lnTo>
                  <a:pt x="720557" y="0"/>
                </a:lnTo>
                <a:lnTo>
                  <a:pt x="720557" y="722477"/>
                </a:lnTo>
                <a:lnTo>
                  <a:pt x="0" y="722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1298" y="8343014"/>
            <a:ext cx="438660" cy="426048"/>
          </a:xfrm>
          <a:custGeom>
            <a:avLst/>
            <a:gdLst/>
            <a:ahLst/>
            <a:cxnLst/>
            <a:rect r="r" b="b" t="t" l="l"/>
            <a:pathLst>
              <a:path h="426048" w="438660">
                <a:moveTo>
                  <a:pt x="0" y="0"/>
                </a:moveTo>
                <a:lnTo>
                  <a:pt x="438659" y="0"/>
                </a:lnTo>
                <a:lnTo>
                  <a:pt x="438659" y="426048"/>
                </a:lnTo>
                <a:lnTo>
                  <a:pt x="0" y="426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309537" y="8317400"/>
            <a:ext cx="348538" cy="515052"/>
          </a:xfrm>
          <a:custGeom>
            <a:avLst/>
            <a:gdLst/>
            <a:ahLst/>
            <a:cxnLst/>
            <a:rect r="r" b="b" t="t" l="l"/>
            <a:pathLst>
              <a:path h="515052" w="348538">
                <a:moveTo>
                  <a:pt x="0" y="0"/>
                </a:moveTo>
                <a:lnTo>
                  <a:pt x="348538" y="0"/>
                </a:lnTo>
                <a:lnTo>
                  <a:pt x="348538" y="515053"/>
                </a:lnTo>
                <a:lnTo>
                  <a:pt x="0" y="5150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772622" y="812145"/>
            <a:ext cx="1405991" cy="241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6"/>
              </a:lnSpc>
            </a:pPr>
            <a:r>
              <a:rPr lang="en-US" b="true" sz="1908" spc="-14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3299" y="2087198"/>
            <a:ext cx="5178565" cy="207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97"/>
              </a:lnSpc>
            </a:pPr>
            <a:r>
              <a:rPr lang="en-US" sz="8775" spc="-52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Recap Relâmpago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8287928"/>
            <a:ext cx="4992664" cy="65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90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Aula 12 | UC1: Planejar o Desenvolvimento de Software | 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77343" y="2206240"/>
            <a:ext cx="3538070" cy="27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3"/>
              </a:lnSpc>
            </a:pPr>
            <a:r>
              <a:rPr lang="en-US" b="true" sz="222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Requisitos do Projeto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77343" y="3044657"/>
            <a:ext cx="3946285" cy="65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908" spc="-3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 stack deve atender às necessidades funcionais e não-funcionais definidas.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7343" y="4170188"/>
            <a:ext cx="2759196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12"/>
              </a:lnSpc>
            </a:pPr>
            <a:r>
              <a:rPr lang="en-US" sz="7125" spc="-427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RF/RNF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03526" y="2206240"/>
            <a:ext cx="3611907" cy="27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3"/>
              </a:lnSpc>
            </a:pPr>
            <a:r>
              <a:rPr lang="en-US" b="true" sz="222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Escalabilidade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03526" y="3044657"/>
            <a:ext cx="3946285" cy="65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908" spc="-3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 solução deve crescer conforme a demanda do sistema aumenta.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03526" y="4170188"/>
            <a:ext cx="2759196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12"/>
              </a:lnSpc>
            </a:pPr>
            <a:r>
              <a:rPr lang="en-US" sz="7125" spc="-427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↑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77343" y="6207119"/>
            <a:ext cx="3538070" cy="522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3"/>
              </a:lnSpc>
            </a:pPr>
            <a:r>
              <a:rPr lang="en-US" b="true" sz="222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Experiência</a:t>
            </a:r>
          </a:p>
          <a:p>
            <a:pPr algn="l" marL="0" indent="0" lvl="0">
              <a:lnSpc>
                <a:spcPts val="2003"/>
              </a:lnSpc>
            </a:pPr>
            <a:r>
              <a:rPr lang="en-US" b="true" sz="222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 Equipe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77343" y="7045536"/>
            <a:ext cx="3946285" cy="65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908" spc="-3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Usar tecnologias que a equipe já domina reduz riscos e retrabalho.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77343" y="8171067"/>
            <a:ext cx="2759196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12"/>
              </a:lnSpc>
            </a:pPr>
            <a:r>
              <a:rPr lang="en-US" sz="7125" spc="-427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👥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03526" y="6207119"/>
            <a:ext cx="3029339" cy="522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03"/>
              </a:lnSpc>
            </a:pPr>
            <a:r>
              <a:rPr lang="en-US" b="true" sz="222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Comunidade e Suporte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03526" y="7045536"/>
            <a:ext cx="3946285" cy="65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71"/>
              </a:lnSpc>
            </a:pPr>
            <a:r>
              <a:rPr lang="en-US" sz="1908" spc="-3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Tecnologias com comunidade ativa têm mais recursos, libs e respostas.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03526" y="8171067"/>
            <a:ext cx="2759196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12"/>
              </a:lnSpc>
            </a:pPr>
            <a:r>
              <a:rPr lang="en-US" sz="7125" spc="-427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OSS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44146" y="724582"/>
            <a:ext cx="550861" cy="620665"/>
          </a:xfrm>
          <a:custGeom>
            <a:avLst/>
            <a:gdLst/>
            <a:ahLst/>
            <a:cxnLst/>
            <a:rect r="r" b="b" t="t" l="l"/>
            <a:pathLst>
              <a:path h="620665" w="550861">
                <a:moveTo>
                  <a:pt x="0" y="0"/>
                </a:moveTo>
                <a:lnTo>
                  <a:pt x="550861" y="0"/>
                </a:lnTo>
                <a:lnTo>
                  <a:pt x="550861" y="620665"/>
                </a:lnTo>
                <a:lnTo>
                  <a:pt x="0" y="6206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79930" y="3670644"/>
            <a:ext cx="5861886" cy="2708117"/>
            <a:chOff x="0" y="0"/>
            <a:chExt cx="1543871" cy="7132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79930" y="6614881"/>
            <a:ext cx="5861886" cy="2708117"/>
            <a:chOff x="0" y="0"/>
            <a:chExt cx="1543871" cy="713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31942" y="4223980"/>
            <a:ext cx="1538879" cy="1601446"/>
            <a:chOff x="0" y="0"/>
            <a:chExt cx="78104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31942" y="7168217"/>
            <a:ext cx="1538879" cy="1601446"/>
            <a:chOff x="0" y="0"/>
            <a:chExt cx="781045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97414" y="3670644"/>
            <a:ext cx="5861886" cy="2708117"/>
            <a:chOff x="0" y="0"/>
            <a:chExt cx="1543871" cy="713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97414" y="6614881"/>
            <a:ext cx="5861886" cy="2708117"/>
            <a:chOff x="0" y="0"/>
            <a:chExt cx="1543871" cy="7132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49426" y="4223980"/>
            <a:ext cx="1538879" cy="1601446"/>
            <a:chOff x="0" y="0"/>
            <a:chExt cx="781045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49426" y="7168217"/>
            <a:ext cx="1538879" cy="1601446"/>
            <a:chOff x="0" y="0"/>
            <a:chExt cx="781045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2700000">
            <a:off x="-1559881" y="3226944"/>
            <a:ext cx="6042629" cy="5709773"/>
          </a:xfrm>
          <a:custGeom>
            <a:avLst/>
            <a:gdLst/>
            <a:ahLst/>
            <a:cxnLst/>
            <a:rect r="r" b="b" t="t" l="l"/>
            <a:pathLst>
              <a:path h="5709773" w="6042629">
                <a:moveTo>
                  <a:pt x="0" y="0"/>
                </a:moveTo>
                <a:lnTo>
                  <a:pt x="6042630" y="0"/>
                </a:lnTo>
                <a:lnTo>
                  <a:pt x="6042630" y="5709772"/>
                </a:lnTo>
                <a:lnTo>
                  <a:pt x="0" y="5709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15936" y="3749392"/>
            <a:ext cx="3770882" cy="5292466"/>
          </a:xfrm>
          <a:custGeom>
            <a:avLst/>
            <a:gdLst/>
            <a:ahLst/>
            <a:cxnLst/>
            <a:rect r="r" b="b" t="t" l="l"/>
            <a:pathLst>
              <a:path h="5292466" w="3770882">
                <a:moveTo>
                  <a:pt x="0" y="0"/>
                </a:moveTo>
                <a:lnTo>
                  <a:pt x="3770882" y="0"/>
                </a:lnTo>
                <a:lnTo>
                  <a:pt x="3770882" y="5292466"/>
                </a:lnTo>
                <a:lnTo>
                  <a:pt x="0" y="5292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037357" y="4679843"/>
            <a:ext cx="850330" cy="854059"/>
          </a:xfrm>
          <a:custGeom>
            <a:avLst/>
            <a:gdLst/>
            <a:ahLst/>
            <a:cxnLst/>
            <a:rect r="r" b="b" t="t" l="l"/>
            <a:pathLst>
              <a:path h="854059" w="850330">
                <a:moveTo>
                  <a:pt x="0" y="0"/>
                </a:moveTo>
                <a:lnTo>
                  <a:pt x="850330" y="0"/>
                </a:lnTo>
                <a:lnTo>
                  <a:pt x="850330" y="854059"/>
                </a:lnTo>
                <a:lnTo>
                  <a:pt x="0" y="854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074778" y="4608740"/>
            <a:ext cx="682693" cy="879476"/>
          </a:xfrm>
          <a:custGeom>
            <a:avLst/>
            <a:gdLst/>
            <a:ahLst/>
            <a:cxnLst/>
            <a:rect r="r" b="b" t="t" l="l"/>
            <a:pathLst>
              <a:path h="879476" w="682693">
                <a:moveTo>
                  <a:pt x="0" y="0"/>
                </a:moveTo>
                <a:lnTo>
                  <a:pt x="682693" y="0"/>
                </a:lnTo>
                <a:lnTo>
                  <a:pt x="682693" y="879476"/>
                </a:lnTo>
                <a:lnTo>
                  <a:pt x="0" y="8794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844678" y="7536142"/>
            <a:ext cx="1146539" cy="876948"/>
          </a:xfrm>
          <a:custGeom>
            <a:avLst/>
            <a:gdLst/>
            <a:ahLst/>
            <a:cxnLst/>
            <a:rect r="r" b="b" t="t" l="l"/>
            <a:pathLst>
              <a:path h="876948" w="1146539">
                <a:moveTo>
                  <a:pt x="0" y="0"/>
                </a:moveTo>
                <a:lnTo>
                  <a:pt x="1146540" y="0"/>
                </a:lnTo>
                <a:lnTo>
                  <a:pt x="1146540" y="876948"/>
                </a:lnTo>
                <a:lnTo>
                  <a:pt x="0" y="8769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001356" y="7538331"/>
            <a:ext cx="789665" cy="881077"/>
          </a:xfrm>
          <a:custGeom>
            <a:avLst/>
            <a:gdLst/>
            <a:ahLst/>
            <a:cxnLst/>
            <a:rect r="r" b="b" t="t" l="l"/>
            <a:pathLst>
              <a:path h="881077" w="789665">
                <a:moveTo>
                  <a:pt x="0" y="0"/>
                </a:moveTo>
                <a:lnTo>
                  <a:pt x="789666" y="0"/>
                </a:lnTo>
                <a:lnTo>
                  <a:pt x="789666" y="881077"/>
                </a:lnTo>
                <a:lnTo>
                  <a:pt x="0" y="8810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72622" y="802620"/>
            <a:ext cx="1405991" cy="16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911624"/>
            <a:ext cx="9009907" cy="121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75"/>
              </a:lnSpc>
            </a:pPr>
            <a:r>
              <a:rPr lang="en-US" sz="5083" spc="-3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Checklist: Seu Stack Está Pronto Para Entregar?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26420" y="4207312"/>
            <a:ext cx="1413459" cy="1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3"/>
              </a:lnSpc>
            </a:pPr>
            <a:r>
              <a:rPr lang="en-US" b="true" sz="158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Frontend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4279" y="4873207"/>
            <a:ext cx="1343253" cy="38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4"/>
              </a:lnSpc>
            </a:pPr>
            <a:r>
              <a:rPr lang="en-US" sz="1355" spc="-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Definido e justificado?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26420" y="4720562"/>
            <a:ext cx="2339166" cy="5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2"/>
              </a:lnSpc>
            </a:pPr>
            <a:r>
              <a:rPr lang="en-US" sz="4236" spc="-33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✓ Sim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26420" y="7178933"/>
            <a:ext cx="1873231" cy="1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3"/>
              </a:lnSpc>
            </a:pPr>
            <a:r>
              <a:rPr lang="en-US" b="true" sz="158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Backend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17960" y="7849899"/>
            <a:ext cx="1343253" cy="38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4"/>
              </a:lnSpc>
            </a:pPr>
            <a:r>
              <a:rPr lang="en-US" sz="1355" spc="-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Definido e justificado?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26420" y="7692183"/>
            <a:ext cx="2186766" cy="5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2"/>
              </a:lnSpc>
            </a:pPr>
            <a:r>
              <a:rPr lang="en-US" sz="4236" spc="-33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✓ Sim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43904" y="4207312"/>
            <a:ext cx="3371529" cy="1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3"/>
              </a:lnSpc>
            </a:pPr>
            <a:r>
              <a:rPr lang="en-US" b="true" sz="158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Banco de Dados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17135" y="4873207"/>
            <a:ext cx="1770912" cy="19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4"/>
              </a:lnSpc>
            </a:pPr>
            <a:r>
              <a:rPr lang="en-US" sz="1355" spc="-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Definido e justificado?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43904" y="4720562"/>
            <a:ext cx="2162790" cy="5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2"/>
              </a:lnSpc>
            </a:pPr>
            <a:r>
              <a:rPr lang="en-US" sz="4236" spc="-33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⚠ Rev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43904" y="7178933"/>
            <a:ext cx="3188223" cy="1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3"/>
              </a:lnSpc>
            </a:pPr>
            <a:r>
              <a:rPr lang="en-US" b="true" sz="158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Deploy &amp; Infra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17135" y="7849899"/>
            <a:ext cx="1576230" cy="38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4"/>
              </a:lnSpc>
            </a:pPr>
            <a:r>
              <a:rPr lang="en-US" sz="1355" spc="-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Definidos e justificados?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43904" y="7692183"/>
            <a:ext cx="1873231" cy="5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2"/>
              </a:lnSpc>
            </a:pPr>
            <a:r>
              <a:rPr lang="en-US" sz="4236" spc="-33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✗ Não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9442136">
            <a:off x="10052122" y="-353512"/>
            <a:ext cx="5250422" cy="3988133"/>
          </a:xfrm>
          <a:custGeom>
            <a:avLst/>
            <a:gdLst/>
            <a:ahLst/>
            <a:cxnLst/>
            <a:rect r="r" b="b" t="t" l="l"/>
            <a:pathLst>
              <a:path h="3988133" w="5250422">
                <a:moveTo>
                  <a:pt x="0" y="3988133"/>
                </a:moveTo>
                <a:lnTo>
                  <a:pt x="5250422" y="3988133"/>
                </a:lnTo>
                <a:lnTo>
                  <a:pt x="5250422" y="0"/>
                </a:lnTo>
                <a:lnTo>
                  <a:pt x="0" y="0"/>
                </a:lnTo>
                <a:lnTo>
                  <a:pt x="0" y="39881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55843" y="-235841"/>
            <a:ext cx="4861881" cy="6086861"/>
          </a:xfrm>
          <a:custGeom>
            <a:avLst/>
            <a:gdLst/>
            <a:ahLst/>
            <a:cxnLst/>
            <a:rect r="r" b="b" t="t" l="l"/>
            <a:pathLst>
              <a:path h="6086861" w="4861881">
                <a:moveTo>
                  <a:pt x="0" y="0"/>
                </a:moveTo>
                <a:lnTo>
                  <a:pt x="4861881" y="0"/>
                </a:lnTo>
                <a:lnTo>
                  <a:pt x="4861881" y="6086861"/>
                </a:lnTo>
                <a:lnTo>
                  <a:pt x="0" y="6086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090226" y="5295136"/>
            <a:ext cx="7106621" cy="1827290"/>
            <a:chOff x="0" y="0"/>
            <a:chExt cx="1871703" cy="481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1703" cy="481262"/>
            </a:xfrm>
            <a:custGeom>
              <a:avLst/>
              <a:gdLst/>
              <a:ahLst/>
              <a:cxnLst/>
              <a:rect r="r" b="b" t="t" l="l"/>
              <a:pathLst>
                <a:path h="481262" w="1871703">
                  <a:moveTo>
                    <a:pt x="15252" y="0"/>
                  </a:moveTo>
                  <a:lnTo>
                    <a:pt x="1856451" y="0"/>
                  </a:lnTo>
                  <a:cubicBezTo>
                    <a:pt x="1860496" y="0"/>
                    <a:pt x="1864375" y="1607"/>
                    <a:pt x="1867236" y="4467"/>
                  </a:cubicBezTo>
                  <a:cubicBezTo>
                    <a:pt x="1870096" y="7327"/>
                    <a:pt x="1871703" y="11207"/>
                    <a:pt x="1871703" y="15252"/>
                  </a:cubicBezTo>
                  <a:lnTo>
                    <a:pt x="1871703" y="466010"/>
                  </a:lnTo>
                  <a:cubicBezTo>
                    <a:pt x="1871703" y="474433"/>
                    <a:pt x="1864874" y="481262"/>
                    <a:pt x="1856451" y="481262"/>
                  </a:cubicBezTo>
                  <a:lnTo>
                    <a:pt x="15252" y="481262"/>
                  </a:lnTo>
                  <a:cubicBezTo>
                    <a:pt x="11207" y="481262"/>
                    <a:pt x="7327" y="479655"/>
                    <a:pt x="4467" y="476795"/>
                  </a:cubicBezTo>
                  <a:cubicBezTo>
                    <a:pt x="1607" y="473934"/>
                    <a:pt x="0" y="470055"/>
                    <a:pt x="0" y="466010"/>
                  </a:cubicBezTo>
                  <a:lnTo>
                    <a:pt x="0" y="15252"/>
                  </a:lnTo>
                  <a:cubicBezTo>
                    <a:pt x="0" y="11207"/>
                    <a:pt x="1607" y="7327"/>
                    <a:pt x="4467" y="4467"/>
                  </a:cubicBezTo>
                  <a:cubicBezTo>
                    <a:pt x="7327" y="1607"/>
                    <a:pt x="11207" y="0"/>
                    <a:pt x="15252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1871703" cy="41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90226" y="7370076"/>
            <a:ext cx="7106621" cy="1888224"/>
            <a:chOff x="0" y="0"/>
            <a:chExt cx="1871703" cy="4973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71703" cy="497310"/>
            </a:xfrm>
            <a:custGeom>
              <a:avLst/>
              <a:gdLst/>
              <a:ahLst/>
              <a:cxnLst/>
              <a:rect r="r" b="b" t="t" l="l"/>
              <a:pathLst>
                <a:path h="497310" w="1871703">
                  <a:moveTo>
                    <a:pt x="15252" y="0"/>
                  </a:moveTo>
                  <a:lnTo>
                    <a:pt x="1856451" y="0"/>
                  </a:lnTo>
                  <a:cubicBezTo>
                    <a:pt x="1860496" y="0"/>
                    <a:pt x="1864375" y="1607"/>
                    <a:pt x="1867236" y="4467"/>
                  </a:cubicBezTo>
                  <a:cubicBezTo>
                    <a:pt x="1870096" y="7327"/>
                    <a:pt x="1871703" y="11207"/>
                    <a:pt x="1871703" y="15252"/>
                  </a:cubicBezTo>
                  <a:lnTo>
                    <a:pt x="1871703" y="482059"/>
                  </a:lnTo>
                  <a:cubicBezTo>
                    <a:pt x="1871703" y="486103"/>
                    <a:pt x="1870096" y="489983"/>
                    <a:pt x="1867236" y="492843"/>
                  </a:cubicBezTo>
                  <a:cubicBezTo>
                    <a:pt x="1864375" y="495703"/>
                    <a:pt x="1860496" y="497310"/>
                    <a:pt x="1856451" y="497310"/>
                  </a:cubicBezTo>
                  <a:lnTo>
                    <a:pt x="15252" y="497310"/>
                  </a:lnTo>
                  <a:cubicBezTo>
                    <a:pt x="11207" y="497310"/>
                    <a:pt x="7327" y="495703"/>
                    <a:pt x="4467" y="492843"/>
                  </a:cubicBezTo>
                  <a:cubicBezTo>
                    <a:pt x="1607" y="489983"/>
                    <a:pt x="0" y="486103"/>
                    <a:pt x="0" y="482059"/>
                  </a:cubicBezTo>
                  <a:lnTo>
                    <a:pt x="0" y="15252"/>
                  </a:lnTo>
                  <a:cubicBezTo>
                    <a:pt x="0" y="11207"/>
                    <a:pt x="1607" y="7327"/>
                    <a:pt x="4467" y="4467"/>
                  </a:cubicBezTo>
                  <a:cubicBezTo>
                    <a:pt x="7327" y="1607"/>
                    <a:pt x="11207" y="0"/>
                    <a:pt x="15252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871703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06396" y="5234202"/>
            <a:ext cx="4852904" cy="1888224"/>
            <a:chOff x="0" y="0"/>
            <a:chExt cx="1278131" cy="497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8131" cy="497310"/>
            </a:xfrm>
            <a:custGeom>
              <a:avLst/>
              <a:gdLst/>
              <a:ahLst/>
              <a:cxnLst/>
              <a:rect r="r" b="b" t="t" l="l"/>
              <a:pathLst>
                <a:path h="497310" w="1278131">
                  <a:moveTo>
                    <a:pt x="22334" y="0"/>
                  </a:moveTo>
                  <a:lnTo>
                    <a:pt x="1255797" y="0"/>
                  </a:lnTo>
                  <a:cubicBezTo>
                    <a:pt x="1268132" y="0"/>
                    <a:pt x="1278131" y="9999"/>
                    <a:pt x="1278131" y="22334"/>
                  </a:cubicBezTo>
                  <a:lnTo>
                    <a:pt x="1278131" y="474976"/>
                  </a:lnTo>
                  <a:cubicBezTo>
                    <a:pt x="1278131" y="480899"/>
                    <a:pt x="1275778" y="486580"/>
                    <a:pt x="1271589" y="490768"/>
                  </a:cubicBezTo>
                  <a:cubicBezTo>
                    <a:pt x="1267401" y="494957"/>
                    <a:pt x="1261720" y="497310"/>
                    <a:pt x="1255797" y="497310"/>
                  </a:cubicBezTo>
                  <a:lnTo>
                    <a:pt x="22334" y="497310"/>
                  </a:lnTo>
                  <a:cubicBezTo>
                    <a:pt x="9999" y="497310"/>
                    <a:pt x="0" y="487311"/>
                    <a:pt x="0" y="474976"/>
                  </a:cubicBezTo>
                  <a:lnTo>
                    <a:pt x="0" y="22334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4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278131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33928" y="5514616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06396" y="7370076"/>
            <a:ext cx="4852904" cy="1888224"/>
            <a:chOff x="0" y="0"/>
            <a:chExt cx="1278131" cy="4973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8131" cy="497310"/>
            </a:xfrm>
            <a:custGeom>
              <a:avLst/>
              <a:gdLst/>
              <a:ahLst/>
              <a:cxnLst/>
              <a:rect r="r" b="b" t="t" l="l"/>
              <a:pathLst>
                <a:path h="497310" w="1278131">
                  <a:moveTo>
                    <a:pt x="22334" y="0"/>
                  </a:moveTo>
                  <a:lnTo>
                    <a:pt x="1255797" y="0"/>
                  </a:lnTo>
                  <a:cubicBezTo>
                    <a:pt x="1268132" y="0"/>
                    <a:pt x="1278131" y="9999"/>
                    <a:pt x="1278131" y="22334"/>
                  </a:cubicBezTo>
                  <a:lnTo>
                    <a:pt x="1278131" y="474976"/>
                  </a:lnTo>
                  <a:cubicBezTo>
                    <a:pt x="1278131" y="480899"/>
                    <a:pt x="1275778" y="486580"/>
                    <a:pt x="1271589" y="490768"/>
                  </a:cubicBezTo>
                  <a:cubicBezTo>
                    <a:pt x="1267401" y="494957"/>
                    <a:pt x="1261720" y="497310"/>
                    <a:pt x="1255797" y="497310"/>
                  </a:cubicBezTo>
                  <a:lnTo>
                    <a:pt x="22334" y="497310"/>
                  </a:lnTo>
                  <a:cubicBezTo>
                    <a:pt x="9999" y="497310"/>
                    <a:pt x="0" y="487311"/>
                    <a:pt x="0" y="474976"/>
                  </a:cubicBezTo>
                  <a:lnTo>
                    <a:pt x="0" y="22334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4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278131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33928" y="7617464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01252" y="5570796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401252" y="7673644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033299" y="4687980"/>
            <a:ext cx="3239864" cy="4575703"/>
            <a:chOff x="0" y="0"/>
            <a:chExt cx="3267456" cy="4614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67456" cy="4618736"/>
            </a:xfrm>
            <a:custGeom>
              <a:avLst/>
              <a:gdLst/>
              <a:ahLst/>
              <a:cxnLst/>
              <a:rect r="r" b="b" t="t" l="l"/>
              <a:pathLst>
                <a:path h="4618736" w="3267456">
                  <a:moveTo>
                    <a:pt x="3267456" y="4618736"/>
                  </a:moveTo>
                  <a:lnTo>
                    <a:pt x="0" y="4618736"/>
                  </a:lnTo>
                  <a:lnTo>
                    <a:pt x="0" y="0"/>
                  </a:lnTo>
                  <a:lnTo>
                    <a:pt x="3267456" y="0"/>
                  </a:lnTo>
                  <a:lnTo>
                    <a:pt x="3267456" y="4618736"/>
                  </a:lnTo>
                  <a:close/>
                </a:path>
              </a:pathLst>
            </a:custGeom>
            <a:blipFill>
              <a:blip r:embed="rId9"/>
              <a:stretch>
                <a:fillRect l="-4" t="0" r="-4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44163" y="140959"/>
              <a:ext cx="2993427" cy="4317015"/>
            </a:xfrm>
            <a:custGeom>
              <a:avLst/>
              <a:gdLst/>
              <a:ahLst/>
              <a:cxnLst/>
              <a:rect r="r" b="b" t="t" l="l"/>
              <a:pathLst>
                <a:path h="4317015" w="2993427">
                  <a:moveTo>
                    <a:pt x="2993427" y="12700"/>
                  </a:moveTo>
                  <a:lnTo>
                    <a:pt x="2935892" y="4317015"/>
                  </a:lnTo>
                  <a:lnTo>
                    <a:pt x="0" y="4275547"/>
                  </a:lnTo>
                  <a:lnTo>
                    <a:pt x="0" y="0"/>
                  </a:lnTo>
                  <a:lnTo>
                    <a:pt x="2993427" y="12700"/>
                  </a:lnTo>
                  <a:close/>
                </a:path>
              </a:pathLst>
            </a:custGeom>
            <a:blipFill>
              <a:blip r:embed="rId10"/>
              <a:stretch>
                <a:fillRect l="-565" t="0" r="-565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772622" y="812145"/>
            <a:ext cx="1405991" cy="24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5"/>
              </a:lnSpc>
            </a:pPr>
            <a:r>
              <a:rPr lang="en-US" b="true" sz="1895" spc="-147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247711"/>
            <a:ext cx="3922780" cy="207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97"/>
              </a:lnSpc>
            </a:pPr>
            <a:r>
              <a:rPr lang="en-US" sz="8775" spc="-52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Exercício</a:t>
            </a:r>
          </a:p>
          <a:p>
            <a:pPr algn="l" marL="0" indent="0" lvl="0">
              <a:lnSpc>
                <a:spcPts val="7897"/>
              </a:lnSpc>
            </a:pPr>
            <a:r>
              <a:rPr lang="en-US" sz="8775" spc="-52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Prático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5103" y="5561187"/>
            <a:ext cx="5388951" cy="30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2"/>
              </a:lnSpc>
            </a:pPr>
            <a:r>
              <a:rPr lang="en-US" b="true" sz="213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Passo 1 — Abrir o Documento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15103" y="6015563"/>
            <a:ext cx="5781743" cy="65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4"/>
              </a:lnSpc>
            </a:pPr>
            <a:r>
              <a:rPr lang="en-US" sz="1895" spc="-3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Cada grupo abre o documento do projeto e localiza a seção de Stack de Tecnologias.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15103" y="7666248"/>
            <a:ext cx="5388951" cy="30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2"/>
              </a:lnSpc>
            </a:pPr>
            <a:r>
              <a:rPr lang="en-US" b="true" sz="213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Passo 2 — Revisar e Finalizar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5103" y="8182250"/>
            <a:ext cx="5565807" cy="65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4"/>
              </a:lnSpc>
            </a:pPr>
            <a:r>
              <a:rPr lang="en-US" sz="1895" spc="-3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Garantir justificativa clara de 1–2 frases por tecnologia. Documento será entregue ao final da aula.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92970" y="5500640"/>
            <a:ext cx="2936533" cy="30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2"/>
              </a:lnSpc>
            </a:pPr>
            <a:r>
              <a:rPr lang="en-US" b="true" sz="213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Tempo Total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47779" y="6069166"/>
            <a:ext cx="3418847" cy="799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6"/>
              </a:lnSpc>
            </a:pPr>
            <a:r>
              <a:rPr lang="en-US" sz="6495" spc="-50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20 min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92970" y="7636514"/>
            <a:ext cx="2936533" cy="30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2"/>
              </a:lnSpc>
            </a:pPr>
            <a:r>
              <a:rPr lang="en-US" b="true" sz="213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Entrega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47779" y="8205040"/>
            <a:ext cx="3418847" cy="799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46"/>
              </a:lnSpc>
            </a:pPr>
            <a:r>
              <a:rPr lang="en-US" sz="6495" spc="-50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Escrita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90226" y="3431971"/>
            <a:ext cx="5533092" cy="65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4"/>
              </a:lnSpc>
            </a:pPr>
            <a:r>
              <a:rPr lang="en-US" sz="1895" spc="-3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Cada grupo finaliza a seção de Stack do documento do projeto agora. Tempo: 20 minutos.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32944" y="2558571"/>
            <a:ext cx="4173031" cy="30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82"/>
              </a:lnSpc>
            </a:pPr>
            <a:r>
              <a:rPr lang="en-US" b="true" sz="2132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Travar a Seção de Stack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13765">
            <a:off x="9629511" y="-1426327"/>
            <a:ext cx="7580784" cy="7961012"/>
          </a:xfrm>
          <a:custGeom>
            <a:avLst/>
            <a:gdLst/>
            <a:ahLst/>
            <a:cxnLst/>
            <a:rect r="r" b="b" t="t" l="l"/>
            <a:pathLst>
              <a:path h="7961012" w="7580784">
                <a:moveTo>
                  <a:pt x="0" y="0"/>
                </a:moveTo>
                <a:lnTo>
                  <a:pt x="7580785" y="0"/>
                </a:lnTo>
                <a:lnTo>
                  <a:pt x="7580785" y="7961012"/>
                </a:lnTo>
                <a:lnTo>
                  <a:pt x="0" y="7961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4717" y="5525748"/>
            <a:ext cx="14622731" cy="885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26"/>
              </a:lnSpc>
            </a:pPr>
            <a:r>
              <a:rPr lang="en-US" sz="7140" spc="-57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Agora Vamos Construir a Carreira de Vocês.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6715433" y="770845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6310" y="3452334"/>
            <a:ext cx="6060353" cy="2286028"/>
            <a:chOff x="0" y="0"/>
            <a:chExt cx="1365031" cy="5149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5032" cy="514904"/>
            </a:xfrm>
            <a:custGeom>
              <a:avLst/>
              <a:gdLst/>
              <a:ahLst/>
              <a:cxnLst/>
              <a:rect r="r" b="b" t="t" l="l"/>
              <a:pathLst>
                <a:path h="514904" w="1365032">
                  <a:moveTo>
                    <a:pt x="0" y="0"/>
                  </a:moveTo>
                  <a:lnTo>
                    <a:pt x="1365032" y="0"/>
                  </a:lnTo>
                  <a:lnTo>
                    <a:pt x="1365032" y="514904"/>
                  </a:lnTo>
                  <a:lnTo>
                    <a:pt x="0" y="514904"/>
                  </a:ln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365031" cy="476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36575" y="-2041428"/>
            <a:ext cx="5272976" cy="9190372"/>
          </a:xfrm>
          <a:custGeom>
            <a:avLst/>
            <a:gdLst/>
            <a:ahLst/>
            <a:cxnLst/>
            <a:rect r="r" b="b" t="t" l="l"/>
            <a:pathLst>
              <a:path h="9190372" w="5272976">
                <a:moveTo>
                  <a:pt x="0" y="0"/>
                </a:moveTo>
                <a:lnTo>
                  <a:pt x="5272976" y="0"/>
                </a:lnTo>
                <a:lnTo>
                  <a:pt x="5272976" y="9190372"/>
                </a:lnTo>
                <a:lnTo>
                  <a:pt x="0" y="91903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339" y="3280551"/>
            <a:ext cx="5943157" cy="250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26"/>
              </a:lnSpc>
            </a:pPr>
            <a:r>
              <a:rPr lang="en-US" b="true" sz="7140" spc="-57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VOCÊS CONSTRUÍRAM UM PROJETO.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22" y="754227"/>
            <a:ext cx="1385710" cy="16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9236" y="8755730"/>
            <a:ext cx="4250064" cy="31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Aula 12 | UC1</a:t>
            </a:r>
          </a:p>
          <a:p>
            <a:pPr algn="r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Planejar o Desenvolvimento de Software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299" y="8755730"/>
            <a:ext cx="4250064" cy="31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19/09/2025</a:t>
            </a:r>
          </a:p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UC1 — Último Encontro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8112" y="8934357"/>
            <a:ext cx="5320974" cy="31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Nos próximos 60 minutos: tratamento sério e prático sobre como entrar no mercado de tecnologia.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27792" y="3215971"/>
            <a:ext cx="13064384" cy="4480152"/>
          </a:xfrm>
          <a:custGeom>
            <a:avLst/>
            <a:gdLst/>
            <a:ahLst/>
            <a:cxnLst/>
            <a:rect r="r" b="b" t="t" l="l"/>
            <a:pathLst>
              <a:path h="4480152" w="13064384">
                <a:moveTo>
                  <a:pt x="0" y="0"/>
                </a:moveTo>
                <a:lnTo>
                  <a:pt x="13064384" y="0"/>
                </a:lnTo>
                <a:lnTo>
                  <a:pt x="13064384" y="4480152"/>
                </a:lnTo>
                <a:lnTo>
                  <a:pt x="0" y="448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250" y="2155266"/>
            <a:ext cx="444354" cy="44435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82061" y="2289077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2061" y="8315248"/>
            <a:ext cx="444354" cy="4443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15872" y="8449059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112134" y="7679493"/>
            <a:ext cx="444354" cy="44435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245945" y="7838998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099965" y="2628195"/>
            <a:ext cx="444354" cy="44435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233776" y="2737741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465284" y="5389205"/>
            <a:ext cx="1989401" cy="2045857"/>
          </a:xfrm>
          <a:custGeom>
            <a:avLst/>
            <a:gdLst/>
            <a:ahLst/>
            <a:cxnLst/>
            <a:rect r="r" b="b" t="t" l="l"/>
            <a:pathLst>
              <a:path h="2045857" w="1989401">
                <a:moveTo>
                  <a:pt x="0" y="0"/>
                </a:moveTo>
                <a:lnTo>
                  <a:pt x="1989401" y="0"/>
                </a:lnTo>
                <a:lnTo>
                  <a:pt x="1989401" y="2045857"/>
                </a:lnTo>
                <a:lnTo>
                  <a:pt x="0" y="20458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33655" y="6542515"/>
            <a:ext cx="3425202" cy="38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6"/>
              </a:lnSpc>
            </a:pPr>
            <a:r>
              <a:rPr lang="en-US" sz="3163" spc="-1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Dev Júnior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2622" y="812145"/>
            <a:ext cx="1405991" cy="25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2059" spc="-16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3929" y="1779347"/>
            <a:ext cx="11001881" cy="848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01"/>
              </a:lnSpc>
            </a:pPr>
            <a:r>
              <a:rPr lang="en-US" sz="6779" spc="-40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Formas de Inserção no Mercado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1830" y="2161349"/>
            <a:ext cx="2075484" cy="35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2"/>
              </a:lnSpc>
            </a:pPr>
            <a:r>
              <a:rPr lang="en-US" b="true" sz="20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Trilha Principal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1830" y="2685345"/>
            <a:ext cx="2759196" cy="38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6"/>
              </a:lnSpc>
            </a:pPr>
            <a:r>
              <a:rPr lang="en-US" sz="3163" spc="-1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Estágio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5641" y="8321331"/>
            <a:ext cx="2075484" cy="35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2"/>
              </a:lnSpc>
            </a:pPr>
            <a:r>
              <a:rPr lang="en-US" b="true" sz="20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Próximos passos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35275" y="7235135"/>
            <a:ext cx="2271368" cy="35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2"/>
              </a:lnSpc>
            </a:pPr>
            <a:r>
              <a:rPr lang="en-US" b="true" sz="20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Caminho Paralelo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65714" y="8235266"/>
            <a:ext cx="3534455" cy="73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6"/>
              </a:lnSpc>
            </a:pPr>
            <a:r>
              <a:rPr lang="en-US" sz="3163" spc="-18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Freelancer / Empreendedor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53869" y="2623658"/>
            <a:ext cx="2271368" cy="35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2"/>
              </a:lnSpc>
            </a:pPr>
            <a:r>
              <a:rPr lang="en-US" b="true" sz="205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Trilha Sênior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10508" y="3148749"/>
            <a:ext cx="3534455" cy="72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19"/>
              </a:lnSpc>
            </a:pPr>
            <a:r>
              <a:rPr lang="en-US" sz="2659" spc="-9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Dev Pleno → Dev Sênior → Tech Lead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03624" y="773374"/>
            <a:ext cx="563796" cy="709585"/>
          </a:xfrm>
          <a:custGeom>
            <a:avLst/>
            <a:gdLst/>
            <a:ahLst/>
            <a:cxnLst/>
            <a:rect r="r" b="b" t="t" l="l"/>
            <a:pathLst>
              <a:path h="709585" w="563796">
                <a:moveTo>
                  <a:pt x="0" y="0"/>
                </a:moveTo>
                <a:lnTo>
                  <a:pt x="563796" y="0"/>
                </a:lnTo>
                <a:lnTo>
                  <a:pt x="563796" y="709585"/>
                </a:lnTo>
                <a:lnTo>
                  <a:pt x="0" y="709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59639" y="1830023"/>
            <a:ext cx="4773478" cy="3691578"/>
            <a:chOff x="0" y="0"/>
            <a:chExt cx="1257212" cy="972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85822" y="1830023"/>
            <a:ext cx="4773478" cy="3691578"/>
            <a:chOff x="0" y="0"/>
            <a:chExt cx="1257212" cy="972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59639" y="5830902"/>
            <a:ext cx="4773478" cy="3691578"/>
            <a:chOff x="0" y="0"/>
            <a:chExt cx="1257212" cy="9722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85822" y="5830902"/>
            <a:ext cx="4773478" cy="3691578"/>
            <a:chOff x="0" y="0"/>
            <a:chExt cx="1257212" cy="972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60874" y="4203047"/>
            <a:ext cx="791495" cy="79149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91322" y="4203047"/>
            <a:ext cx="791495" cy="7914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60874" y="8151809"/>
            <a:ext cx="791495" cy="7914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91322" y="8151809"/>
            <a:ext cx="791495" cy="7914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310852" y="4492067"/>
            <a:ext cx="301661" cy="298644"/>
          </a:xfrm>
          <a:custGeom>
            <a:avLst/>
            <a:gdLst/>
            <a:ahLst/>
            <a:cxnLst/>
            <a:rect r="r" b="b" t="t" l="l"/>
            <a:pathLst>
              <a:path h="298644" w="301661">
                <a:moveTo>
                  <a:pt x="0" y="0"/>
                </a:moveTo>
                <a:lnTo>
                  <a:pt x="301661" y="0"/>
                </a:lnTo>
                <a:lnTo>
                  <a:pt x="301661" y="298644"/>
                </a:lnTo>
                <a:lnTo>
                  <a:pt x="0" y="298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249291" y="4374341"/>
            <a:ext cx="498301" cy="382446"/>
          </a:xfrm>
          <a:custGeom>
            <a:avLst/>
            <a:gdLst/>
            <a:ahLst/>
            <a:cxnLst/>
            <a:rect r="r" b="b" t="t" l="l"/>
            <a:pathLst>
              <a:path h="382446" w="498301">
                <a:moveTo>
                  <a:pt x="0" y="0"/>
                </a:moveTo>
                <a:lnTo>
                  <a:pt x="498301" y="0"/>
                </a:lnTo>
                <a:lnTo>
                  <a:pt x="498301" y="382446"/>
                </a:lnTo>
                <a:lnTo>
                  <a:pt x="0" y="382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82297" y="8369834"/>
            <a:ext cx="385470" cy="367642"/>
          </a:xfrm>
          <a:custGeom>
            <a:avLst/>
            <a:gdLst/>
            <a:ahLst/>
            <a:cxnLst/>
            <a:rect r="r" b="b" t="t" l="l"/>
            <a:pathLst>
              <a:path h="367642" w="385470">
                <a:moveTo>
                  <a:pt x="0" y="0"/>
                </a:moveTo>
                <a:lnTo>
                  <a:pt x="385470" y="0"/>
                </a:lnTo>
                <a:lnTo>
                  <a:pt x="385470" y="367642"/>
                </a:lnTo>
                <a:lnTo>
                  <a:pt x="0" y="367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231350" y="8323949"/>
            <a:ext cx="512368" cy="489718"/>
          </a:xfrm>
          <a:custGeom>
            <a:avLst/>
            <a:gdLst/>
            <a:ahLst/>
            <a:cxnLst/>
            <a:rect r="r" b="b" t="t" l="l"/>
            <a:pathLst>
              <a:path h="489718" w="512368">
                <a:moveTo>
                  <a:pt x="0" y="0"/>
                </a:moveTo>
                <a:lnTo>
                  <a:pt x="512368" y="0"/>
                </a:lnTo>
                <a:lnTo>
                  <a:pt x="512368" y="489718"/>
                </a:lnTo>
                <a:lnTo>
                  <a:pt x="0" y="48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772622" y="802620"/>
            <a:ext cx="1405991" cy="19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6"/>
              </a:lnSpc>
            </a:pPr>
            <a:r>
              <a:rPr lang="en-US" b="true" sz="1556" spc="-12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3299" y="2087198"/>
            <a:ext cx="5178565" cy="314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94"/>
              </a:lnSpc>
            </a:pPr>
            <a:r>
              <a:rPr lang="en-US" sz="8993" spc="-5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Marketing Pessoal para Devs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8297453"/>
            <a:ext cx="4992664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Aula 12 | UC1: Planejar o Desenvolvimento de Software | 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77343" y="2196715"/>
            <a:ext cx="3538070" cy="22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Presença Online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77343" y="3054182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Mantenha perfis ativos no GitHub e LinkedIn. Mostre o que você sabe fazer.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7343" y="4084463"/>
            <a:ext cx="2759196" cy="99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5"/>
              </a:lnSpc>
            </a:pPr>
            <a:r>
              <a:rPr lang="en-US" sz="4183" spc="-251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GitHub</a:t>
            </a:r>
          </a:p>
          <a:p>
            <a:pPr algn="l" marL="903274" indent="-451637" lvl="1">
              <a:lnSpc>
                <a:spcPts val="3765"/>
              </a:lnSpc>
              <a:buFont typeface="Arial"/>
              <a:buChar char="•"/>
            </a:pPr>
            <a:r>
              <a:rPr lang="en-US" sz="4183" spc="-251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LinkedIn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03526" y="2196715"/>
            <a:ext cx="3611907" cy="42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Portfólio de</a:t>
            </a:r>
          </a:p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Projetos Reais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03526" y="3054182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Projetos concretos valem mais que certificados. Documente cada entrega.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03526" y="4084463"/>
            <a:ext cx="2759196" cy="52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5"/>
              </a:lnSpc>
            </a:pPr>
            <a:r>
              <a:rPr lang="en-US" sz="4183" spc="-251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Projetos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77343" y="6197594"/>
            <a:ext cx="3538070" cy="42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Rede de</a:t>
            </a:r>
          </a:p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Contatos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77343" y="7055061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Participe de comunidades, meetups e eventos. Conexões abrem portas.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77343" y="8085342"/>
            <a:ext cx="2759196" cy="52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5"/>
              </a:lnSpc>
            </a:pPr>
            <a:r>
              <a:rPr lang="en-US" sz="4183" spc="-251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Network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03526" y="6197594"/>
            <a:ext cx="3029339" cy="22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Consistência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03526" y="7055061"/>
            <a:ext cx="3946285" cy="81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Poste e documente seu progresso regularmente. Visibilidade é construída com constância.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03526" y="8085342"/>
            <a:ext cx="2759196" cy="52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5"/>
              </a:lnSpc>
            </a:pPr>
            <a:r>
              <a:rPr lang="en-US" sz="4183" spc="-251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Sempre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49346" y="732295"/>
            <a:ext cx="539354" cy="608629"/>
          </a:xfrm>
          <a:custGeom>
            <a:avLst/>
            <a:gdLst/>
            <a:ahLst/>
            <a:cxnLst/>
            <a:rect r="r" b="b" t="t" l="l"/>
            <a:pathLst>
              <a:path h="608629" w="539354">
                <a:moveTo>
                  <a:pt x="0" y="0"/>
                </a:moveTo>
                <a:lnTo>
                  <a:pt x="539354" y="0"/>
                </a:lnTo>
                <a:lnTo>
                  <a:pt x="539354" y="608628"/>
                </a:lnTo>
                <a:lnTo>
                  <a:pt x="0" y="6086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8233" y="777961"/>
            <a:ext cx="605617" cy="624348"/>
          </a:xfrm>
          <a:custGeom>
            <a:avLst/>
            <a:gdLst/>
            <a:ahLst/>
            <a:cxnLst/>
            <a:rect r="r" b="b" t="t" l="l"/>
            <a:pathLst>
              <a:path h="624348" w="605617">
                <a:moveTo>
                  <a:pt x="0" y="0"/>
                </a:moveTo>
                <a:lnTo>
                  <a:pt x="605617" y="0"/>
                </a:lnTo>
                <a:lnTo>
                  <a:pt x="605617" y="624348"/>
                </a:lnTo>
                <a:lnTo>
                  <a:pt x="0" y="624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79930" y="3670644"/>
            <a:ext cx="5861886" cy="2708117"/>
            <a:chOff x="0" y="0"/>
            <a:chExt cx="1543871" cy="7132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79930" y="6614881"/>
            <a:ext cx="5861886" cy="2708117"/>
            <a:chOff x="0" y="0"/>
            <a:chExt cx="1543871" cy="713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31942" y="4223980"/>
            <a:ext cx="1538879" cy="1601446"/>
            <a:chOff x="0" y="0"/>
            <a:chExt cx="78104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31942" y="7168217"/>
            <a:ext cx="1538879" cy="1601446"/>
            <a:chOff x="0" y="0"/>
            <a:chExt cx="781045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97414" y="3670644"/>
            <a:ext cx="5861886" cy="2708117"/>
            <a:chOff x="0" y="0"/>
            <a:chExt cx="1543871" cy="713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97414" y="6614881"/>
            <a:ext cx="5861886" cy="2708117"/>
            <a:chOff x="0" y="0"/>
            <a:chExt cx="1543871" cy="7132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49426" y="4223980"/>
            <a:ext cx="1538879" cy="1601446"/>
            <a:chOff x="0" y="0"/>
            <a:chExt cx="781045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49426" y="7168217"/>
            <a:ext cx="1538879" cy="1601446"/>
            <a:chOff x="0" y="0"/>
            <a:chExt cx="781045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true" flipV="true" rot="2700000">
            <a:off x="-1515657" y="5232072"/>
            <a:ext cx="5097911" cy="3872289"/>
          </a:xfrm>
          <a:custGeom>
            <a:avLst/>
            <a:gdLst/>
            <a:ahLst/>
            <a:cxnLst/>
            <a:rect r="r" b="b" t="t" l="l"/>
            <a:pathLst>
              <a:path h="3872289" w="5097911">
                <a:moveTo>
                  <a:pt x="5097912" y="3872289"/>
                </a:moveTo>
                <a:lnTo>
                  <a:pt x="0" y="3872289"/>
                </a:lnTo>
                <a:lnTo>
                  <a:pt x="0" y="0"/>
                </a:lnTo>
                <a:lnTo>
                  <a:pt x="5097912" y="0"/>
                </a:lnTo>
                <a:lnTo>
                  <a:pt x="5097912" y="387228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70977" y="3572286"/>
            <a:ext cx="4739902" cy="5467455"/>
          </a:xfrm>
          <a:custGeom>
            <a:avLst/>
            <a:gdLst/>
            <a:ahLst/>
            <a:cxnLst/>
            <a:rect r="r" b="b" t="t" l="l"/>
            <a:pathLst>
              <a:path h="5467455" w="4739902">
                <a:moveTo>
                  <a:pt x="0" y="0"/>
                </a:moveTo>
                <a:lnTo>
                  <a:pt x="4739902" y="0"/>
                </a:lnTo>
                <a:lnTo>
                  <a:pt x="4739902" y="5467455"/>
                </a:lnTo>
                <a:lnTo>
                  <a:pt x="0" y="5467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995650" y="4679737"/>
            <a:ext cx="933637" cy="936237"/>
          </a:xfrm>
          <a:custGeom>
            <a:avLst/>
            <a:gdLst/>
            <a:ahLst/>
            <a:cxnLst/>
            <a:rect r="r" b="b" t="t" l="l"/>
            <a:pathLst>
              <a:path h="936237" w="933637">
                <a:moveTo>
                  <a:pt x="0" y="0"/>
                </a:moveTo>
                <a:lnTo>
                  <a:pt x="933636" y="0"/>
                </a:lnTo>
                <a:lnTo>
                  <a:pt x="933636" y="936237"/>
                </a:lnTo>
                <a:lnTo>
                  <a:pt x="0" y="936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028953" y="4541507"/>
            <a:ext cx="771759" cy="932639"/>
          </a:xfrm>
          <a:custGeom>
            <a:avLst/>
            <a:gdLst/>
            <a:ahLst/>
            <a:cxnLst/>
            <a:rect r="r" b="b" t="t" l="l"/>
            <a:pathLst>
              <a:path h="932639" w="771759">
                <a:moveTo>
                  <a:pt x="0" y="0"/>
                </a:moveTo>
                <a:lnTo>
                  <a:pt x="771760" y="0"/>
                </a:lnTo>
                <a:lnTo>
                  <a:pt x="771760" y="932639"/>
                </a:lnTo>
                <a:lnTo>
                  <a:pt x="0" y="932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977298" y="7472091"/>
            <a:ext cx="891446" cy="926066"/>
          </a:xfrm>
          <a:custGeom>
            <a:avLst/>
            <a:gdLst/>
            <a:ahLst/>
            <a:cxnLst/>
            <a:rect r="r" b="b" t="t" l="l"/>
            <a:pathLst>
              <a:path h="926066" w="891446">
                <a:moveTo>
                  <a:pt x="0" y="0"/>
                </a:moveTo>
                <a:lnTo>
                  <a:pt x="891447" y="0"/>
                </a:lnTo>
                <a:lnTo>
                  <a:pt x="891447" y="926065"/>
                </a:lnTo>
                <a:lnTo>
                  <a:pt x="0" y="9260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989463" y="7562779"/>
            <a:ext cx="814029" cy="842462"/>
          </a:xfrm>
          <a:custGeom>
            <a:avLst/>
            <a:gdLst/>
            <a:ahLst/>
            <a:cxnLst/>
            <a:rect r="r" b="b" t="t" l="l"/>
            <a:pathLst>
              <a:path h="842462" w="814029">
                <a:moveTo>
                  <a:pt x="0" y="0"/>
                </a:moveTo>
                <a:lnTo>
                  <a:pt x="814029" y="0"/>
                </a:lnTo>
                <a:lnTo>
                  <a:pt x="814029" y="842463"/>
                </a:lnTo>
                <a:lnTo>
                  <a:pt x="0" y="8424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72622" y="793095"/>
            <a:ext cx="1405991" cy="59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5"/>
              </a:lnSpc>
            </a:pPr>
            <a:r>
              <a:rPr lang="en-US" b="true" sz="1280" spc="-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Aula 12 | UC1: Planejar o Desenvolvimento de Software | 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902099"/>
            <a:ext cx="9009907" cy="59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1"/>
              </a:lnSpc>
            </a:pPr>
            <a:r>
              <a:rPr lang="en-US" sz="4801" spc="-28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Currículo Dev: O Que Muda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26420" y="4207312"/>
            <a:ext cx="1413459" cy="18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"/>
              </a:lnSpc>
            </a:pPr>
            <a:r>
              <a:rPr lang="en-US" b="true" sz="14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Projetos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4279" y="4863682"/>
            <a:ext cx="1343253" cy="35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</a:pPr>
            <a:r>
              <a:rPr lang="en-US" sz="1280" spc="-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Concretos em destaque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26420" y="4711037"/>
            <a:ext cx="2339166" cy="5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4000" spc="-3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26420" y="7178933"/>
            <a:ext cx="1873231" cy="18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"/>
              </a:lnSpc>
            </a:pPr>
            <a:r>
              <a:rPr lang="en-US" b="true" sz="14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Stack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17960" y="7840374"/>
            <a:ext cx="1343253" cy="35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</a:pPr>
            <a:r>
              <a:rPr lang="en-US" sz="1280" spc="-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Tecnologias dominadas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26420" y="7682658"/>
            <a:ext cx="2186766" cy="5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4000" spc="-3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43904" y="4207312"/>
            <a:ext cx="3371529" cy="18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"/>
              </a:lnSpc>
            </a:pPr>
            <a:r>
              <a:rPr lang="en-US" b="true" sz="14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GitHub &amp; Portfólio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17135" y="4863682"/>
            <a:ext cx="1770912" cy="1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</a:pPr>
            <a:r>
              <a:rPr lang="en-US" sz="1280" spc="-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Links reais e ativos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43904" y="4711037"/>
            <a:ext cx="2162790" cy="5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4000" spc="-3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43904" y="7178933"/>
            <a:ext cx="3188223" cy="18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"/>
              </a:lnSpc>
            </a:pPr>
            <a:r>
              <a:rPr lang="en-US" b="true" sz="14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Contribuições Reais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17135" y="7840374"/>
            <a:ext cx="1576230" cy="35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</a:pPr>
            <a:r>
              <a:rPr lang="en-US" sz="1280" spc="-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Projetos do curso contam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43904" y="7682658"/>
            <a:ext cx="1873231" cy="5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4000" spc="-3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04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9442136">
            <a:off x="10052122" y="-353512"/>
            <a:ext cx="5250422" cy="3988133"/>
          </a:xfrm>
          <a:custGeom>
            <a:avLst/>
            <a:gdLst/>
            <a:ahLst/>
            <a:cxnLst/>
            <a:rect r="r" b="b" t="t" l="l"/>
            <a:pathLst>
              <a:path h="3988133" w="5250422">
                <a:moveTo>
                  <a:pt x="0" y="3988133"/>
                </a:moveTo>
                <a:lnTo>
                  <a:pt x="5250422" y="3988133"/>
                </a:lnTo>
                <a:lnTo>
                  <a:pt x="5250422" y="0"/>
                </a:lnTo>
                <a:lnTo>
                  <a:pt x="0" y="0"/>
                </a:lnTo>
                <a:lnTo>
                  <a:pt x="0" y="39881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04577" y="851142"/>
            <a:ext cx="3589218" cy="5028676"/>
          </a:xfrm>
          <a:custGeom>
            <a:avLst/>
            <a:gdLst/>
            <a:ahLst/>
            <a:cxnLst/>
            <a:rect r="r" b="b" t="t" l="l"/>
            <a:pathLst>
              <a:path h="5028676" w="3589218">
                <a:moveTo>
                  <a:pt x="0" y="0"/>
                </a:moveTo>
                <a:lnTo>
                  <a:pt x="3589218" y="0"/>
                </a:lnTo>
                <a:lnTo>
                  <a:pt x="3589218" y="5028676"/>
                </a:lnTo>
                <a:lnTo>
                  <a:pt x="0" y="5028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090226" y="5295136"/>
            <a:ext cx="7106621" cy="1827290"/>
            <a:chOff x="0" y="0"/>
            <a:chExt cx="1871703" cy="481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1703" cy="481262"/>
            </a:xfrm>
            <a:custGeom>
              <a:avLst/>
              <a:gdLst/>
              <a:ahLst/>
              <a:cxnLst/>
              <a:rect r="r" b="b" t="t" l="l"/>
              <a:pathLst>
                <a:path h="481262" w="1871703">
                  <a:moveTo>
                    <a:pt x="15252" y="0"/>
                  </a:moveTo>
                  <a:lnTo>
                    <a:pt x="1856451" y="0"/>
                  </a:lnTo>
                  <a:cubicBezTo>
                    <a:pt x="1860496" y="0"/>
                    <a:pt x="1864375" y="1607"/>
                    <a:pt x="1867236" y="4467"/>
                  </a:cubicBezTo>
                  <a:cubicBezTo>
                    <a:pt x="1870096" y="7327"/>
                    <a:pt x="1871703" y="11207"/>
                    <a:pt x="1871703" y="15252"/>
                  </a:cubicBezTo>
                  <a:lnTo>
                    <a:pt x="1871703" y="466010"/>
                  </a:lnTo>
                  <a:cubicBezTo>
                    <a:pt x="1871703" y="474433"/>
                    <a:pt x="1864874" y="481262"/>
                    <a:pt x="1856451" y="481262"/>
                  </a:cubicBezTo>
                  <a:lnTo>
                    <a:pt x="15252" y="481262"/>
                  </a:lnTo>
                  <a:cubicBezTo>
                    <a:pt x="11207" y="481262"/>
                    <a:pt x="7327" y="479655"/>
                    <a:pt x="4467" y="476795"/>
                  </a:cubicBezTo>
                  <a:cubicBezTo>
                    <a:pt x="1607" y="473934"/>
                    <a:pt x="0" y="470055"/>
                    <a:pt x="0" y="466010"/>
                  </a:cubicBezTo>
                  <a:lnTo>
                    <a:pt x="0" y="15252"/>
                  </a:lnTo>
                  <a:cubicBezTo>
                    <a:pt x="0" y="11207"/>
                    <a:pt x="1607" y="7327"/>
                    <a:pt x="4467" y="4467"/>
                  </a:cubicBezTo>
                  <a:cubicBezTo>
                    <a:pt x="7327" y="1607"/>
                    <a:pt x="11207" y="0"/>
                    <a:pt x="15252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1871703" cy="41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90226" y="7370076"/>
            <a:ext cx="7106621" cy="1888224"/>
            <a:chOff x="0" y="0"/>
            <a:chExt cx="1871703" cy="4973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71703" cy="497310"/>
            </a:xfrm>
            <a:custGeom>
              <a:avLst/>
              <a:gdLst/>
              <a:ahLst/>
              <a:cxnLst/>
              <a:rect r="r" b="b" t="t" l="l"/>
              <a:pathLst>
                <a:path h="497310" w="1871703">
                  <a:moveTo>
                    <a:pt x="15252" y="0"/>
                  </a:moveTo>
                  <a:lnTo>
                    <a:pt x="1856451" y="0"/>
                  </a:lnTo>
                  <a:cubicBezTo>
                    <a:pt x="1860496" y="0"/>
                    <a:pt x="1864375" y="1607"/>
                    <a:pt x="1867236" y="4467"/>
                  </a:cubicBezTo>
                  <a:cubicBezTo>
                    <a:pt x="1870096" y="7327"/>
                    <a:pt x="1871703" y="11207"/>
                    <a:pt x="1871703" y="15252"/>
                  </a:cubicBezTo>
                  <a:lnTo>
                    <a:pt x="1871703" y="482059"/>
                  </a:lnTo>
                  <a:cubicBezTo>
                    <a:pt x="1871703" y="486103"/>
                    <a:pt x="1870096" y="489983"/>
                    <a:pt x="1867236" y="492843"/>
                  </a:cubicBezTo>
                  <a:cubicBezTo>
                    <a:pt x="1864375" y="495703"/>
                    <a:pt x="1860496" y="497310"/>
                    <a:pt x="1856451" y="497310"/>
                  </a:cubicBezTo>
                  <a:lnTo>
                    <a:pt x="15252" y="497310"/>
                  </a:lnTo>
                  <a:cubicBezTo>
                    <a:pt x="11207" y="497310"/>
                    <a:pt x="7327" y="495703"/>
                    <a:pt x="4467" y="492843"/>
                  </a:cubicBezTo>
                  <a:cubicBezTo>
                    <a:pt x="1607" y="489983"/>
                    <a:pt x="0" y="486103"/>
                    <a:pt x="0" y="482059"/>
                  </a:cubicBezTo>
                  <a:lnTo>
                    <a:pt x="0" y="15252"/>
                  </a:lnTo>
                  <a:cubicBezTo>
                    <a:pt x="0" y="11207"/>
                    <a:pt x="1607" y="7327"/>
                    <a:pt x="4467" y="4467"/>
                  </a:cubicBezTo>
                  <a:cubicBezTo>
                    <a:pt x="7327" y="1607"/>
                    <a:pt x="11207" y="0"/>
                    <a:pt x="15252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871703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06396" y="5234202"/>
            <a:ext cx="4852904" cy="1888224"/>
            <a:chOff x="0" y="0"/>
            <a:chExt cx="1278131" cy="497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8131" cy="497310"/>
            </a:xfrm>
            <a:custGeom>
              <a:avLst/>
              <a:gdLst/>
              <a:ahLst/>
              <a:cxnLst/>
              <a:rect r="r" b="b" t="t" l="l"/>
              <a:pathLst>
                <a:path h="497310" w="1278131">
                  <a:moveTo>
                    <a:pt x="22334" y="0"/>
                  </a:moveTo>
                  <a:lnTo>
                    <a:pt x="1255797" y="0"/>
                  </a:lnTo>
                  <a:cubicBezTo>
                    <a:pt x="1268132" y="0"/>
                    <a:pt x="1278131" y="9999"/>
                    <a:pt x="1278131" y="22334"/>
                  </a:cubicBezTo>
                  <a:lnTo>
                    <a:pt x="1278131" y="474976"/>
                  </a:lnTo>
                  <a:cubicBezTo>
                    <a:pt x="1278131" y="480899"/>
                    <a:pt x="1275778" y="486580"/>
                    <a:pt x="1271589" y="490768"/>
                  </a:cubicBezTo>
                  <a:cubicBezTo>
                    <a:pt x="1267401" y="494957"/>
                    <a:pt x="1261720" y="497310"/>
                    <a:pt x="1255797" y="497310"/>
                  </a:cubicBezTo>
                  <a:lnTo>
                    <a:pt x="22334" y="497310"/>
                  </a:lnTo>
                  <a:cubicBezTo>
                    <a:pt x="9999" y="497310"/>
                    <a:pt x="0" y="487311"/>
                    <a:pt x="0" y="474976"/>
                  </a:cubicBezTo>
                  <a:lnTo>
                    <a:pt x="0" y="22334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4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278131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33928" y="5514616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06396" y="7370076"/>
            <a:ext cx="4852904" cy="1888224"/>
            <a:chOff x="0" y="0"/>
            <a:chExt cx="1278131" cy="4973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8131" cy="497310"/>
            </a:xfrm>
            <a:custGeom>
              <a:avLst/>
              <a:gdLst/>
              <a:ahLst/>
              <a:cxnLst/>
              <a:rect r="r" b="b" t="t" l="l"/>
              <a:pathLst>
                <a:path h="497310" w="1278131">
                  <a:moveTo>
                    <a:pt x="22334" y="0"/>
                  </a:moveTo>
                  <a:lnTo>
                    <a:pt x="1255797" y="0"/>
                  </a:lnTo>
                  <a:cubicBezTo>
                    <a:pt x="1268132" y="0"/>
                    <a:pt x="1278131" y="9999"/>
                    <a:pt x="1278131" y="22334"/>
                  </a:cubicBezTo>
                  <a:lnTo>
                    <a:pt x="1278131" y="474976"/>
                  </a:lnTo>
                  <a:cubicBezTo>
                    <a:pt x="1278131" y="480899"/>
                    <a:pt x="1275778" y="486580"/>
                    <a:pt x="1271589" y="490768"/>
                  </a:cubicBezTo>
                  <a:cubicBezTo>
                    <a:pt x="1267401" y="494957"/>
                    <a:pt x="1261720" y="497310"/>
                    <a:pt x="1255797" y="497310"/>
                  </a:cubicBezTo>
                  <a:lnTo>
                    <a:pt x="22334" y="497310"/>
                  </a:lnTo>
                  <a:cubicBezTo>
                    <a:pt x="9999" y="497310"/>
                    <a:pt x="0" y="487311"/>
                    <a:pt x="0" y="474976"/>
                  </a:cubicBezTo>
                  <a:lnTo>
                    <a:pt x="0" y="22334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4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278131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33928" y="7617464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01252" y="5570796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401252" y="7673644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033299" y="4687980"/>
            <a:ext cx="3239864" cy="4575703"/>
            <a:chOff x="0" y="0"/>
            <a:chExt cx="3267456" cy="4614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67456" cy="4618736"/>
            </a:xfrm>
            <a:custGeom>
              <a:avLst/>
              <a:gdLst/>
              <a:ahLst/>
              <a:cxnLst/>
              <a:rect r="r" b="b" t="t" l="l"/>
              <a:pathLst>
                <a:path h="4618736" w="3267456">
                  <a:moveTo>
                    <a:pt x="3267456" y="4618736"/>
                  </a:moveTo>
                  <a:lnTo>
                    <a:pt x="0" y="4618736"/>
                  </a:lnTo>
                  <a:lnTo>
                    <a:pt x="0" y="0"/>
                  </a:lnTo>
                  <a:lnTo>
                    <a:pt x="3267456" y="0"/>
                  </a:lnTo>
                  <a:lnTo>
                    <a:pt x="3267456" y="4618736"/>
                  </a:lnTo>
                  <a:close/>
                </a:path>
              </a:pathLst>
            </a:custGeom>
            <a:blipFill>
              <a:blip r:embed="rId9"/>
              <a:stretch>
                <a:fillRect l="-4" t="0" r="-4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44163" y="140959"/>
              <a:ext cx="2993427" cy="4317015"/>
            </a:xfrm>
            <a:custGeom>
              <a:avLst/>
              <a:gdLst/>
              <a:ahLst/>
              <a:cxnLst/>
              <a:rect r="r" b="b" t="t" l="l"/>
              <a:pathLst>
                <a:path h="4317015" w="2993427">
                  <a:moveTo>
                    <a:pt x="2993427" y="12700"/>
                  </a:moveTo>
                  <a:lnTo>
                    <a:pt x="2935892" y="4317015"/>
                  </a:lnTo>
                  <a:lnTo>
                    <a:pt x="0" y="4275547"/>
                  </a:lnTo>
                  <a:lnTo>
                    <a:pt x="0" y="0"/>
                  </a:lnTo>
                  <a:lnTo>
                    <a:pt x="2993427" y="12700"/>
                  </a:lnTo>
                  <a:close/>
                </a:path>
              </a:pathLst>
            </a:custGeom>
            <a:blipFill>
              <a:blip r:embed="rId10"/>
              <a:stretch>
                <a:fillRect l="-565" t="0" r="-565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772622" y="802620"/>
            <a:ext cx="1405991" cy="19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6"/>
              </a:lnSpc>
            </a:pPr>
            <a:r>
              <a:rPr lang="en-US" b="true" sz="1556" spc="-12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171511"/>
            <a:ext cx="3922780" cy="217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3"/>
              </a:lnSpc>
            </a:pPr>
            <a:r>
              <a:rPr lang="en-US" sz="6214" spc="-372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Template de Currículo Dev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5103" y="5561187"/>
            <a:ext cx="5388951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📌 Contato &amp; Resumo Profissional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15103" y="6025088"/>
            <a:ext cx="5781743" cy="81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Nome • E-mail • LinkedIn • GitHub</a:t>
            </a:r>
          </a:p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Resumo: 2–3 frases sobre quem você é, o que domina e o que busca.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15103" y="7666248"/>
            <a:ext cx="5388951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🚀 Projetos em Destaque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5103" y="8191775"/>
            <a:ext cx="5565807" cy="265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Nome do projeto | Descrição curta | Stack utilizado | Link GitHub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92970" y="5500640"/>
            <a:ext cx="2936533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Stack Técnico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47779" y="5954866"/>
            <a:ext cx="3418847" cy="603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24"/>
              </a:lnSpc>
            </a:pPr>
            <a:r>
              <a:rPr lang="en-US" sz="2582" spc="-20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Domino • Conheço • Aprendendo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92970" y="7636514"/>
            <a:ext cx="2936533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Formação &amp; Idiomas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47779" y="8090740"/>
            <a:ext cx="3418847" cy="88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24"/>
              </a:lnSpc>
            </a:pPr>
            <a:r>
              <a:rPr lang="en-US" sz="2582" spc="-20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Técnico em Dev de Sistemas — Senac-RS (em andamento)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90226" y="3441496"/>
            <a:ext cx="5533092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Use este modelo como base. Preencha com os projetos da UC1 e mostre ao mercado o que você construiu.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32944" y="2558571"/>
            <a:ext cx="4173031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Seu currículo é sua primeira entrevista.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699877" y="787166"/>
            <a:ext cx="578357" cy="636012"/>
          </a:xfrm>
          <a:custGeom>
            <a:avLst/>
            <a:gdLst/>
            <a:ahLst/>
            <a:cxnLst/>
            <a:rect r="r" b="b" t="t" l="l"/>
            <a:pathLst>
              <a:path h="636012" w="578357">
                <a:moveTo>
                  <a:pt x="0" y="0"/>
                </a:moveTo>
                <a:lnTo>
                  <a:pt x="578356" y="0"/>
                </a:lnTo>
                <a:lnTo>
                  <a:pt x="578356" y="636012"/>
                </a:lnTo>
                <a:lnTo>
                  <a:pt x="0" y="63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59639" y="1830023"/>
            <a:ext cx="4773478" cy="3691578"/>
            <a:chOff x="0" y="0"/>
            <a:chExt cx="1257212" cy="972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85822" y="1830023"/>
            <a:ext cx="4773478" cy="3691578"/>
            <a:chOff x="0" y="0"/>
            <a:chExt cx="1257212" cy="972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59639" y="5830902"/>
            <a:ext cx="4773478" cy="3691578"/>
            <a:chOff x="0" y="0"/>
            <a:chExt cx="1257212" cy="9722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85822" y="5830902"/>
            <a:ext cx="4773478" cy="3691578"/>
            <a:chOff x="0" y="0"/>
            <a:chExt cx="1257212" cy="972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60874" y="4203047"/>
            <a:ext cx="791495" cy="79149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91322" y="4203047"/>
            <a:ext cx="791495" cy="7914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60874" y="8151809"/>
            <a:ext cx="791495" cy="7914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91322" y="8151809"/>
            <a:ext cx="791495" cy="7914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267491" y="4433376"/>
            <a:ext cx="396570" cy="407784"/>
          </a:xfrm>
          <a:custGeom>
            <a:avLst/>
            <a:gdLst/>
            <a:ahLst/>
            <a:cxnLst/>
            <a:rect r="r" b="b" t="t" l="l"/>
            <a:pathLst>
              <a:path h="407784" w="396570">
                <a:moveTo>
                  <a:pt x="0" y="0"/>
                </a:moveTo>
                <a:lnTo>
                  <a:pt x="396570" y="0"/>
                </a:lnTo>
                <a:lnTo>
                  <a:pt x="396570" y="407784"/>
                </a:lnTo>
                <a:lnTo>
                  <a:pt x="0" y="407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263374" y="4366073"/>
            <a:ext cx="448628" cy="427879"/>
          </a:xfrm>
          <a:custGeom>
            <a:avLst/>
            <a:gdLst/>
            <a:ahLst/>
            <a:cxnLst/>
            <a:rect r="r" b="b" t="t" l="l"/>
            <a:pathLst>
              <a:path h="427879" w="448628">
                <a:moveTo>
                  <a:pt x="0" y="0"/>
                </a:moveTo>
                <a:lnTo>
                  <a:pt x="448628" y="0"/>
                </a:lnTo>
                <a:lnTo>
                  <a:pt x="448628" y="427879"/>
                </a:lnTo>
                <a:lnTo>
                  <a:pt x="0" y="427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307867" y="8376581"/>
            <a:ext cx="353343" cy="336559"/>
          </a:xfrm>
          <a:custGeom>
            <a:avLst/>
            <a:gdLst/>
            <a:ahLst/>
            <a:cxnLst/>
            <a:rect r="r" b="b" t="t" l="l"/>
            <a:pathLst>
              <a:path h="336559" w="353343">
                <a:moveTo>
                  <a:pt x="0" y="0"/>
                </a:moveTo>
                <a:lnTo>
                  <a:pt x="353343" y="0"/>
                </a:lnTo>
                <a:lnTo>
                  <a:pt x="353343" y="336559"/>
                </a:lnTo>
                <a:lnTo>
                  <a:pt x="0" y="336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291811" y="8352792"/>
            <a:ext cx="390739" cy="470779"/>
          </a:xfrm>
          <a:custGeom>
            <a:avLst/>
            <a:gdLst/>
            <a:ahLst/>
            <a:cxnLst/>
            <a:rect r="r" b="b" t="t" l="l"/>
            <a:pathLst>
              <a:path h="470779" w="390739">
                <a:moveTo>
                  <a:pt x="0" y="0"/>
                </a:moveTo>
                <a:lnTo>
                  <a:pt x="390739" y="0"/>
                </a:lnTo>
                <a:lnTo>
                  <a:pt x="390739" y="470779"/>
                </a:lnTo>
                <a:lnTo>
                  <a:pt x="0" y="470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772622" y="812145"/>
            <a:ext cx="1405991" cy="2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8"/>
              </a:lnSpc>
            </a:pPr>
            <a:r>
              <a:rPr lang="en-US" b="true" sz="1833" spc="-14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3299" y="2087198"/>
            <a:ext cx="5178565" cy="518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94"/>
              </a:lnSpc>
            </a:pPr>
            <a:r>
              <a:rPr lang="en-US" sz="8993" spc="-5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Portfólio GitHub: Seu Segundo Currículo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8287928"/>
            <a:ext cx="4992664" cy="6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6"/>
              </a:lnSpc>
            </a:pPr>
            <a:r>
              <a:rPr lang="en-US" sz="18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Recrutadores pesquisam seu GitHub antes da entrevista. Cuide do que eles vão encontrar.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77343" y="2196715"/>
            <a:ext cx="3538070" cy="27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</a:pPr>
            <a:r>
              <a:rPr lang="en-US" b="true" sz="21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README Claro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77343" y="3044657"/>
            <a:ext cx="3946285" cy="6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6"/>
              </a:lnSpc>
            </a:pPr>
            <a:r>
              <a:rPr lang="en-US" sz="1833" spc="-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Cada projeto com descrição, como rodar e prints da tela.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7343" y="4198763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📄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03526" y="2196715"/>
            <a:ext cx="3611907" cy="27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</a:pPr>
            <a:r>
              <a:rPr lang="en-US" b="true" sz="21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Commits Consistentes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03526" y="3044657"/>
            <a:ext cx="3946285" cy="6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6"/>
              </a:lnSpc>
            </a:pPr>
            <a:r>
              <a:rPr lang="en-US" sz="1833" spc="-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Histórico ativo mostra dedicação e evolução contínua.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03526" y="4198763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✅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77343" y="6197594"/>
            <a:ext cx="3538070" cy="27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</a:pPr>
            <a:r>
              <a:rPr lang="en-US" b="true" sz="21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Projetos Organizados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77343" y="7045536"/>
            <a:ext cx="3946285" cy="6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6"/>
              </a:lnSpc>
            </a:pPr>
            <a:r>
              <a:rPr lang="en-US" sz="1833" spc="-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Sem repositórios vazios ou forks sem uso. Qualidade &gt; quantidade.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77343" y="8199642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📁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03526" y="6197594"/>
            <a:ext cx="3029339" cy="51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</a:pPr>
            <a:r>
              <a:rPr lang="en-US" b="true" sz="213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Projetos Completos e Funcionais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03526" y="7045536"/>
            <a:ext cx="3946285" cy="63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6"/>
              </a:lnSpc>
            </a:pPr>
            <a:r>
              <a:rPr lang="en-US" sz="1833" spc="-3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Pelo menos 1–2 projetos que realmente funcionam e demonstram sua stack.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03526" y="8199642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⭐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32680" y="765749"/>
            <a:ext cx="573065" cy="553180"/>
          </a:xfrm>
          <a:custGeom>
            <a:avLst/>
            <a:gdLst/>
            <a:ahLst/>
            <a:cxnLst/>
            <a:rect r="r" b="b" t="t" l="l"/>
            <a:pathLst>
              <a:path h="553180" w="573065">
                <a:moveTo>
                  <a:pt x="0" y="0"/>
                </a:moveTo>
                <a:lnTo>
                  <a:pt x="573066" y="0"/>
                </a:lnTo>
                <a:lnTo>
                  <a:pt x="573066" y="553180"/>
                </a:lnTo>
                <a:lnTo>
                  <a:pt x="0" y="5531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79930" y="3670644"/>
            <a:ext cx="5861886" cy="2708117"/>
            <a:chOff x="0" y="0"/>
            <a:chExt cx="1543871" cy="7132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79930" y="6614881"/>
            <a:ext cx="5861886" cy="2708117"/>
            <a:chOff x="0" y="0"/>
            <a:chExt cx="1543871" cy="713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31942" y="4223980"/>
            <a:ext cx="1538879" cy="1601446"/>
            <a:chOff x="0" y="0"/>
            <a:chExt cx="78104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31942" y="7168217"/>
            <a:ext cx="1538879" cy="1601446"/>
            <a:chOff x="0" y="0"/>
            <a:chExt cx="781045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97414" y="3670644"/>
            <a:ext cx="5861886" cy="2708117"/>
            <a:chOff x="0" y="0"/>
            <a:chExt cx="1543871" cy="713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97414" y="6614881"/>
            <a:ext cx="5861886" cy="2708117"/>
            <a:chOff x="0" y="0"/>
            <a:chExt cx="1543871" cy="7132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49426" y="4223980"/>
            <a:ext cx="1538879" cy="1601446"/>
            <a:chOff x="0" y="0"/>
            <a:chExt cx="781045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49426" y="7168217"/>
            <a:ext cx="1538879" cy="1601446"/>
            <a:chOff x="0" y="0"/>
            <a:chExt cx="781045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2700000">
            <a:off x="-1231752" y="4543107"/>
            <a:ext cx="6063831" cy="3865693"/>
          </a:xfrm>
          <a:custGeom>
            <a:avLst/>
            <a:gdLst/>
            <a:ahLst/>
            <a:cxnLst/>
            <a:rect r="r" b="b" t="t" l="l"/>
            <a:pathLst>
              <a:path h="3865693" w="6063831">
                <a:moveTo>
                  <a:pt x="0" y="0"/>
                </a:moveTo>
                <a:lnTo>
                  <a:pt x="6063832" y="0"/>
                </a:lnTo>
                <a:lnTo>
                  <a:pt x="6063832" y="3865693"/>
                </a:lnTo>
                <a:lnTo>
                  <a:pt x="0" y="3865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57770" y="783851"/>
            <a:ext cx="3752810" cy="11119436"/>
          </a:xfrm>
          <a:custGeom>
            <a:avLst/>
            <a:gdLst/>
            <a:ahLst/>
            <a:cxnLst/>
            <a:rect r="r" b="b" t="t" l="l"/>
            <a:pathLst>
              <a:path h="11119436" w="3752810">
                <a:moveTo>
                  <a:pt x="0" y="0"/>
                </a:moveTo>
                <a:lnTo>
                  <a:pt x="3752810" y="0"/>
                </a:lnTo>
                <a:lnTo>
                  <a:pt x="3752810" y="11119436"/>
                </a:lnTo>
                <a:lnTo>
                  <a:pt x="0" y="11119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992005" y="4641759"/>
            <a:ext cx="924300" cy="933637"/>
          </a:xfrm>
          <a:custGeom>
            <a:avLst/>
            <a:gdLst/>
            <a:ahLst/>
            <a:cxnLst/>
            <a:rect r="r" b="b" t="t" l="l"/>
            <a:pathLst>
              <a:path h="933637" w="924300">
                <a:moveTo>
                  <a:pt x="0" y="0"/>
                </a:moveTo>
                <a:lnTo>
                  <a:pt x="924300" y="0"/>
                </a:lnTo>
                <a:lnTo>
                  <a:pt x="924300" y="933637"/>
                </a:lnTo>
                <a:lnTo>
                  <a:pt x="0" y="933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970615" y="4468508"/>
            <a:ext cx="884184" cy="986537"/>
          </a:xfrm>
          <a:custGeom>
            <a:avLst/>
            <a:gdLst/>
            <a:ahLst/>
            <a:cxnLst/>
            <a:rect r="r" b="b" t="t" l="l"/>
            <a:pathLst>
              <a:path h="986537" w="884184">
                <a:moveTo>
                  <a:pt x="0" y="0"/>
                </a:moveTo>
                <a:lnTo>
                  <a:pt x="884184" y="0"/>
                </a:lnTo>
                <a:lnTo>
                  <a:pt x="884184" y="986537"/>
                </a:lnTo>
                <a:lnTo>
                  <a:pt x="0" y="9865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846486" y="7456361"/>
            <a:ext cx="1052055" cy="1132982"/>
          </a:xfrm>
          <a:custGeom>
            <a:avLst/>
            <a:gdLst/>
            <a:ahLst/>
            <a:cxnLst/>
            <a:rect r="r" b="b" t="t" l="l"/>
            <a:pathLst>
              <a:path h="1132982" w="1052055">
                <a:moveTo>
                  <a:pt x="0" y="0"/>
                </a:moveTo>
                <a:lnTo>
                  <a:pt x="1052055" y="0"/>
                </a:lnTo>
                <a:lnTo>
                  <a:pt x="1052055" y="1132982"/>
                </a:lnTo>
                <a:lnTo>
                  <a:pt x="0" y="11329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973518" y="7589348"/>
            <a:ext cx="845196" cy="751168"/>
          </a:xfrm>
          <a:custGeom>
            <a:avLst/>
            <a:gdLst/>
            <a:ahLst/>
            <a:cxnLst/>
            <a:rect r="r" b="b" t="t" l="l"/>
            <a:pathLst>
              <a:path h="751168" w="845196">
                <a:moveTo>
                  <a:pt x="0" y="0"/>
                </a:moveTo>
                <a:lnTo>
                  <a:pt x="845197" y="0"/>
                </a:lnTo>
                <a:lnTo>
                  <a:pt x="845197" y="751169"/>
                </a:lnTo>
                <a:lnTo>
                  <a:pt x="0" y="7511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72622" y="793095"/>
            <a:ext cx="1405991" cy="59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5"/>
              </a:lnSpc>
            </a:pPr>
            <a:r>
              <a:rPr lang="en-US" b="true" sz="1280" spc="-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Aula 12 | UC1: Planejar o Desenvolvimento de Software | 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902099"/>
            <a:ext cx="9009907" cy="592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1"/>
              </a:lnSpc>
            </a:pPr>
            <a:r>
              <a:rPr lang="en-US" sz="4801" spc="-28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LinkedIn e Presença Profissional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26420" y="4207312"/>
            <a:ext cx="1413459" cy="18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"/>
              </a:lnSpc>
            </a:pPr>
            <a:r>
              <a:rPr lang="en-US" b="true" sz="14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✔ Foto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4279" y="4863682"/>
            <a:ext cx="1343253" cy="1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</a:pPr>
            <a:r>
              <a:rPr lang="en-US" sz="1280" spc="-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Profissional e atual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26420" y="4711037"/>
            <a:ext cx="2339166" cy="5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4000" spc="-3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Perfil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26420" y="7178933"/>
            <a:ext cx="1873231" cy="18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"/>
              </a:lnSpc>
            </a:pPr>
            <a:r>
              <a:rPr lang="en-US" b="true" sz="14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✔ Projetos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17960" y="7840374"/>
            <a:ext cx="1343253" cy="35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</a:pPr>
            <a:r>
              <a:rPr lang="en-US" sz="1280" spc="-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Do curso como experiência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26420" y="7682658"/>
            <a:ext cx="2186766" cy="5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4000" spc="-3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Curso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43904" y="4207312"/>
            <a:ext cx="3371529" cy="18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"/>
              </a:lnSpc>
            </a:pPr>
            <a:r>
              <a:rPr lang="en-US" b="true" sz="14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✔ Headline Clara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17135" y="4863682"/>
            <a:ext cx="1770912" cy="1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</a:pPr>
            <a:r>
              <a:rPr lang="en-US" sz="1280" spc="-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"Full Stack em formação"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43904" y="4711037"/>
            <a:ext cx="2162790" cy="5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4000" spc="-3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Dev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43904" y="7178933"/>
            <a:ext cx="3188223" cy="18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4"/>
              </a:lnSpc>
            </a:pPr>
            <a:r>
              <a:rPr lang="en-US" b="true" sz="14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✔ Conexões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17135" y="7840374"/>
            <a:ext cx="1576230" cy="186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1"/>
              </a:lnSpc>
            </a:pPr>
            <a:r>
              <a:rPr lang="en-US" sz="1280" spc="-2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Colegas e docentes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43904" y="7682658"/>
            <a:ext cx="1873231" cy="5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  <a:r>
              <a:rPr lang="en-US" sz="4000" spc="-31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Rede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56882" y="743249"/>
            <a:ext cx="524509" cy="587685"/>
          </a:xfrm>
          <a:custGeom>
            <a:avLst/>
            <a:gdLst/>
            <a:ahLst/>
            <a:cxnLst/>
            <a:rect r="r" b="b" t="t" l="l"/>
            <a:pathLst>
              <a:path h="587685" w="524509">
                <a:moveTo>
                  <a:pt x="0" y="0"/>
                </a:moveTo>
                <a:lnTo>
                  <a:pt x="524509" y="0"/>
                </a:lnTo>
                <a:lnTo>
                  <a:pt x="524509" y="587686"/>
                </a:lnTo>
                <a:lnTo>
                  <a:pt x="0" y="587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4907" y="2211194"/>
            <a:ext cx="9300901" cy="6161847"/>
          </a:xfrm>
          <a:custGeom>
            <a:avLst/>
            <a:gdLst/>
            <a:ahLst/>
            <a:cxnLst/>
            <a:rect r="r" b="b" t="t" l="l"/>
            <a:pathLst>
              <a:path h="6161847" w="9300901">
                <a:moveTo>
                  <a:pt x="0" y="0"/>
                </a:moveTo>
                <a:lnTo>
                  <a:pt x="9300901" y="0"/>
                </a:lnTo>
                <a:lnTo>
                  <a:pt x="9300901" y="6161847"/>
                </a:lnTo>
                <a:lnTo>
                  <a:pt x="0" y="6161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89678" y="4202165"/>
            <a:ext cx="444354" cy="44435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23489" y="4335976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74168" y="6517768"/>
            <a:ext cx="444354" cy="4443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07979" y="6651579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112134" y="6517768"/>
            <a:ext cx="444354" cy="44435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245945" y="6651579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112134" y="4094800"/>
            <a:ext cx="444354" cy="44435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245945" y="4228611"/>
            <a:ext cx="176732" cy="176732"/>
          </a:xfrm>
          <a:custGeom>
            <a:avLst/>
            <a:gdLst/>
            <a:ahLst/>
            <a:cxnLst/>
            <a:rect r="r" b="b" t="t" l="l"/>
            <a:pathLst>
              <a:path h="176732" w="176732">
                <a:moveTo>
                  <a:pt x="0" y="0"/>
                </a:moveTo>
                <a:lnTo>
                  <a:pt x="176732" y="0"/>
                </a:lnTo>
                <a:lnTo>
                  <a:pt x="176732" y="176732"/>
                </a:lnTo>
                <a:lnTo>
                  <a:pt x="0" y="176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073070" y="3053070"/>
            <a:ext cx="3801669" cy="4913305"/>
          </a:xfrm>
          <a:custGeom>
            <a:avLst/>
            <a:gdLst/>
            <a:ahLst/>
            <a:cxnLst/>
            <a:rect r="r" b="b" t="t" l="l"/>
            <a:pathLst>
              <a:path h="4913305" w="3801669">
                <a:moveTo>
                  <a:pt x="0" y="0"/>
                </a:moveTo>
                <a:lnTo>
                  <a:pt x="3801670" y="0"/>
                </a:lnTo>
                <a:lnTo>
                  <a:pt x="3801670" y="4913305"/>
                </a:lnTo>
                <a:lnTo>
                  <a:pt x="0" y="49133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27748" y="7038322"/>
            <a:ext cx="3425202" cy="61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1"/>
              </a:lnSpc>
            </a:pPr>
            <a:r>
              <a:rPr lang="en-US" sz="2635" spc="-1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WhatsApp &amp; Discord para devs iniciantes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2622" y="802620"/>
            <a:ext cx="1405991" cy="17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5"/>
              </a:lnSpc>
            </a:pPr>
            <a:r>
              <a:rPr lang="en-US" b="true" sz="1456" spc="-11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3929" y="1760297"/>
            <a:ext cx="11001881" cy="75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23"/>
              </a:lnSpc>
            </a:pPr>
            <a:r>
              <a:rPr lang="en-US" sz="6025" spc="-36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Como Buscar Vagas e se Candidatar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43257" y="4227298"/>
            <a:ext cx="2075484" cy="2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8"/>
              </a:lnSpc>
            </a:pPr>
            <a:r>
              <a:rPr lang="en-US" b="true" sz="14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🔍 Portais de Vagas Tech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43257" y="4722719"/>
            <a:ext cx="2759196" cy="61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1"/>
              </a:lnSpc>
            </a:pPr>
            <a:r>
              <a:rPr lang="en-US" sz="2635" spc="-1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LinkedIn Jobs · Gupy · Catho · Trampos.co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7748" y="6542901"/>
            <a:ext cx="2075484" cy="2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8"/>
              </a:lnSpc>
            </a:pPr>
            <a:r>
              <a:rPr lang="en-US" b="true" sz="14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💬 Comunidades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66038" y="6532282"/>
            <a:ext cx="2271368" cy="2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8"/>
              </a:lnSpc>
            </a:pPr>
            <a:r>
              <a:rPr lang="en-US" b="true" sz="14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🤝 Rede &amp; Indicações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65714" y="7038322"/>
            <a:ext cx="3534455" cy="61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1"/>
              </a:lnSpc>
            </a:pPr>
            <a:r>
              <a:rPr lang="en-US" sz="2635" spc="-15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Colegas, docentes e eventos tech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66038" y="4109313"/>
            <a:ext cx="2271368" cy="24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8"/>
              </a:lnSpc>
            </a:pPr>
            <a:r>
              <a:rPr lang="en-US" b="true" sz="145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🎓 Estágios &amp; Trainees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65714" y="4567728"/>
            <a:ext cx="3534455" cy="747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93"/>
              </a:lnSpc>
            </a:pPr>
            <a:r>
              <a:rPr lang="en-US" sz="1880" spc="-6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Programas em empresas tech — porta de entrada real para o mercado.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88900" y="8658983"/>
            <a:ext cx="8110201" cy="50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8"/>
              </a:lnSpc>
            </a:pPr>
            <a:r>
              <a:rPr lang="en-US" sz="1456" spc="-2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💡 Dica: Candidate-se mesmo sem 100% dos requisitos — vagas júnior esperam gente aprendendo.      |      Aula 12 | UC1: Planejar o Desenvolvimento de Software | Senac-RS      |      14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381584">
            <a:off x="11628438" y="-2193588"/>
            <a:ext cx="7280538" cy="10117111"/>
          </a:xfrm>
          <a:custGeom>
            <a:avLst/>
            <a:gdLst/>
            <a:ahLst/>
            <a:cxnLst/>
            <a:rect r="r" b="b" t="t" l="l"/>
            <a:pathLst>
              <a:path h="10117111" w="7280538">
                <a:moveTo>
                  <a:pt x="0" y="0"/>
                </a:moveTo>
                <a:lnTo>
                  <a:pt x="7280538" y="0"/>
                </a:lnTo>
                <a:lnTo>
                  <a:pt x="7280538" y="10117111"/>
                </a:lnTo>
                <a:lnTo>
                  <a:pt x="0" y="10117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662984" y="737633"/>
            <a:ext cx="640966" cy="692761"/>
          </a:xfrm>
          <a:custGeom>
            <a:avLst/>
            <a:gdLst/>
            <a:ahLst/>
            <a:cxnLst/>
            <a:rect r="r" b="b" t="t" l="l"/>
            <a:pathLst>
              <a:path h="692761" w="640966">
                <a:moveTo>
                  <a:pt x="0" y="0"/>
                </a:moveTo>
                <a:lnTo>
                  <a:pt x="640966" y="0"/>
                </a:lnTo>
                <a:lnTo>
                  <a:pt x="640966" y="692762"/>
                </a:lnTo>
                <a:lnTo>
                  <a:pt x="0" y="692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046248"/>
            <a:ext cx="5098779" cy="5394624"/>
            <a:chOff x="0" y="0"/>
            <a:chExt cx="1342888" cy="1420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61805" y="4046248"/>
            <a:ext cx="5098779" cy="5394624"/>
            <a:chOff x="0" y="0"/>
            <a:chExt cx="1342888" cy="1420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60521" y="4046248"/>
            <a:ext cx="5098779" cy="5394624"/>
            <a:chOff x="0" y="0"/>
            <a:chExt cx="1342888" cy="14208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78612" y="4556106"/>
            <a:ext cx="2491152" cy="2226708"/>
            <a:chOff x="0" y="0"/>
            <a:chExt cx="909328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4" r="0" b="-13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2622" y="831195"/>
            <a:ext cx="1405991" cy="2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2"/>
              </a:lnSpc>
            </a:pPr>
            <a:r>
              <a:rPr lang="en-US" b="true" sz="2398" spc="-18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148737"/>
            <a:ext cx="10483039" cy="8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1"/>
              </a:lnSpc>
            </a:pPr>
            <a:r>
              <a:rPr lang="en-US" sz="7156" spc="-42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Entrevista Técnica: As 3 Fases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6762" y="4458999"/>
            <a:ext cx="1520382" cy="8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3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26762" y="7270884"/>
            <a:ext cx="3538070" cy="73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Fase Comportamental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762" y="8215759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Trabalho em equipe, prazos, erros cometidos e projetos realizados.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774349" y="4556106"/>
            <a:ext cx="2491152" cy="2226708"/>
            <a:chOff x="0" y="0"/>
            <a:chExt cx="909328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4" r="0" b="-13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022499" y="4458999"/>
            <a:ext cx="1520382" cy="8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3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022499" y="7270884"/>
            <a:ext cx="4243002" cy="36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Técnica Teórica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22499" y="8215759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Lógica, banco de dados, RF/RNF e metodologias ágeis.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340260" y="4373534"/>
            <a:ext cx="2491152" cy="2226708"/>
            <a:chOff x="0" y="0"/>
            <a:chExt cx="909328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34" r="0" b="-134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588410" y="4458999"/>
            <a:ext cx="1520382" cy="8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3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588410" y="7270884"/>
            <a:ext cx="3538070" cy="73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Prática: Código ao Vivo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8410" y="8215759"/>
            <a:ext cx="3946285" cy="81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Resolver problema de código ou lógica ao vivo. Documento da UC1 é seu material de estudo!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59639" y="1830023"/>
            <a:ext cx="4773478" cy="3691578"/>
            <a:chOff x="0" y="0"/>
            <a:chExt cx="1257212" cy="972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85822" y="1830023"/>
            <a:ext cx="4773478" cy="3691578"/>
            <a:chOff x="0" y="0"/>
            <a:chExt cx="1257212" cy="972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59639" y="5830902"/>
            <a:ext cx="4773478" cy="3691578"/>
            <a:chOff x="0" y="0"/>
            <a:chExt cx="1257212" cy="9722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85822" y="5830902"/>
            <a:ext cx="4773478" cy="3691578"/>
            <a:chOff x="0" y="0"/>
            <a:chExt cx="1257212" cy="972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60874" y="4203047"/>
            <a:ext cx="791495" cy="79149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91322" y="4203047"/>
            <a:ext cx="791495" cy="7914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60874" y="8151809"/>
            <a:ext cx="791495" cy="7914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91322" y="8151809"/>
            <a:ext cx="791495" cy="7914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238356" y="4428736"/>
            <a:ext cx="447939" cy="427222"/>
          </a:xfrm>
          <a:custGeom>
            <a:avLst/>
            <a:gdLst/>
            <a:ahLst/>
            <a:cxnLst/>
            <a:rect r="r" b="b" t="t" l="l"/>
            <a:pathLst>
              <a:path h="427222" w="447939">
                <a:moveTo>
                  <a:pt x="0" y="0"/>
                </a:moveTo>
                <a:lnTo>
                  <a:pt x="447939" y="0"/>
                </a:lnTo>
                <a:lnTo>
                  <a:pt x="447939" y="427222"/>
                </a:lnTo>
                <a:lnTo>
                  <a:pt x="0" y="4272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279453" y="4385583"/>
            <a:ext cx="418710" cy="387306"/>
          </a:xfrm>
          <a:custGeom>
            <a:avLst/>
            <a:gdLst/>
            <a:ahLst/>
            <a:cxnLst/>
            <a:rect r="r" b="b" t="t" l="l"/>
            <a:pathLst>
              <a:path h="387306" w="418710">
                <a:moveTo>
                  <a:pt x="0" y="0"/>
                </a:moveTo>
                <a:lnTo>
                  <a:pt x="418709" y="0"/>
                </a:lnTo>
                <a:lnTo>
                  <a:pt x="418709" y="387307"/>
                </a:lnTo>
                <a:lnTo>
                  <a:pt x="0" y="387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5732" y="8352795"/>
            <a:ext cx="441249" cy="382784"/>
          </a:xfrm>
          <a:custGeom>
            <a:avLst/>
            <a:gdLst/>
            <a:ahLst/>
            <a:cxnLst/>
            <a:rect r="r" b="b" t="t" l="l"/>
            <a:pathLst>
              <a:path h="382784" w="441249">
                <a:moveTo>
                  <a:pt x="0" y="0"/>
                </a:moveTo>
                <a:lnTo>
                  <a:pt x="441249" y="0"/>
                </a:lnTo>
                <a:lnTo>
                  <a:pt x="441249" y="382784"/>
                </a:lnTo>
                <a:lnTo>
                  <a:pt x="0" y="3827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276381" y="8284581"/>
            <a:ext cx="420078" cy="487620"/>
          </a:xfrm>
          <a:custGeom>
            <a:avLst/>
            <a:gdLst/>
            <a:ahLst/>
            <a:cxnLst/>
            <a:rect r="r" b="b" t="t" l="l"/>
            <a:pathLst>
              <a:path h="487620" w="420078">
                <a:moveTo>
                  <a:pt x="0" y="0"/>
                </a:moveTo>
                <a:lnTo>
                  <a:pt x="420078" y="0"/>
                </a:lnTo>
                <a:lnTo>
                  <a:pt x="420078" y="487620"/>
                </a:lnTo>
                <a:lnTo>
                  <a:pt x="0" y="4876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772622" y="802620"/>
            <a:ext cx="1405991" cy="19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6"/>
              </a:lnSpc>
            </a:pPr>
            <a:r>
              <a:rPr lang="en-US" b="true" sz="1556" spc="-12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3299" y="2087198"/>
            <a:ext cx="5178565" cy="212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94"/>
              </a:lnSpc>
            </a:pPr>
            <a:r>
              <a:rPr lang="en-US" sz="8993" spc="-5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Legislação Profissional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8297453"/>
            <a:ext cx="4992664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Aula 12 | UC1: Planejar o Desenvolvimento de Software | 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77343" y="2196715"/>
            <a:ext cx="3538070" cy="22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CBO 3171-10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77343" y="3054182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Código oficial da ocupação: Técnico em Desenvolvimento de Sistemas / Programador.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7343" y="4198763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Oficial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03526" y="2196715"/>
            <a:ext cx="3611907" cy="42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Diploma Técnico</a:t>
            </a:r>
          </a:p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03526" y="3054182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Validade nacional. Reconhecido pelo MEC em todo o território brasileiro.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03526" y="4198763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BR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77343" y="6197594"/>
            <a:ext cx="3538070" cy="421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CLT</a:t>
            </a:r>
          </a:p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Carteira Assinada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77343" y="7055061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Direitos trabalhistas completos: FGTS, férias, 13º, plano de saúde.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77343" y="8199642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CLT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03526" y="6197594"/>
            <a:ext cx="3029339" cy="22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4"/>
              </a:lnSpc>
            </a:pPr>
            <a:r>
              <a:rPr lang="en-US" b="true" sz="18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PJ / Estágio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03526" y="7055061"/>
            <a:ext cx="3946285" cy="81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PJ: Pessoa Jurídica — comum em tech, exige MEI. Estágio: carga reduzida, conta experiência, menos direitos.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03526" y="8199642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PJ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51517" y="742218"/>
            <a:ext cx="534619" cy="586101"/>
          </a:xfrm>
          <a:custGeom>
            <a:avLst/>
            <a:gdLst/>
            <a:ahLst/>
            <a:cxnLst/>
            <a:rect r="r" b="b" t="t" l="l"/>
            <a:pathLst>
              <a:path h="586101" w="534619">
                <a:moveTo>
                  <a:pt x="0" y="0"/>
                </a:moveTo>
                <a:lnTo>
                  <a:pt x="534619" y="0"/>
                </a:lnTo>
                <a:lnTo>
                  <a:pt x="534619" y="586101"/>
                </a:lnTo>
                <a:lnTo>
                  <a:pt x="0" y="5861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9442136">
            <a:off x="10052122" y="-353512"/>
            <a:ext cx="5250422" cy="3988133"/>
          </a:xfrm>
          <a:custGeom>
            <a:avLst/>
            <a:gdLst/>
            <a:ahLst/>
            <a:cxnLst/>
            <a:rect r="r" b="b" t="t" l="l"/>
            <a:pathLst>
              <a:path h="3988133" w="5250422">
                <a:moveTo>
                  <a:pt x="0" y="3988133"/>
                </a:moveTo>
                <a:lnTo>
                  <a:pt x="5250422" y="3988133"/>
                </a:lnTo>
                <a:lnTo>
                  <a:pt x="5250422" y="0"/>
                </a:lnTo>
                <a:lnTo>
                  <a:pt x="0" y="0"/>
                </a:lnTo>
                <a:lnTo>
                  <a:pt x="0" y="39881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25893" y="-110395"/>
            <a:ext cx="5165108" cy="5621886"/>
          </a:xfrm>
          <a:custGeom>
            <a:avLst/>
            <a:gdLst/>
            <a:ahLst/>
            <a:cxnLst/>
            <a:rect r="r" b="b" t="t" l="l"/>
            <a:pathLst>
              <a:path h="5621886" w="5165108">
                <a:moveTo>
                  <a:pt x="0" y="0"/>
                </a:moveTo>
                <a:lnTo>
                  <a:pt x="5165108" y="0"/>
                </a:lnTo>
                <a:lnTo>
                  <a:pt x="5165108" y="5621886"/>
                </a:lnTo>
                <a:lnTo>
                  <a:pt x="0" y="562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090226" y="5295136"/>
            <a:ext cx="7106621" cy="1827290"/>
            <a:chOff x="0" y="0"/>
            <a:chExt cx="1871703" cy="481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1703" cy="481262"/>
            </a:xfrm>
            <a:custGeom>
              <a:avLst/>
              <a:gdLst/>
              <a:ahLst/>
              <a:cxnLst/>
              <a:rect r="r" b="b" t="t" l="l"/>
              <a:pathLst>
                <a:path h="481262" w="1871703">
                  <a:moveTo>
                    <a:pt x="15252" y="0"/>
                  </a:moveTo>
                  <a:lnTo>
                    <a:pt x="1856451" y="0"/>
                  </a:lnTo>
                  <a:cubicBezTo>
                    <a:pt x="1860496" y="0"/>
                    <a:pt x="1864375" y="1607"/>
                    <a:pt x="1867236" y="4467"/>
                  </a:cubicBezTo>
                  <a:cubicBezTo>
                    <a:pt x="1870096" y="7327"/>
                    <a:pt x="1871703" y="11207"/>
                    <a:pt x="1871703" y="15252"/>
                  </a:cubicBezTo>
                  <a:lnTo>
                    <a:pt x="1871703" y="466010"/>
                  </a:lnTo>
                  <a:cubicBezTo>
                    <a:pt x="1871703" y="474433"/>
                    <a:pt x="1864874" y="481262"/>
                    <a:pt x="1856451" y="481262"/>
                  </a:cubicBezTo>
                  <a:lnTo>
                    <a:pt x="15252" y="481262"/>
                  </a:lnTo>
                  <a:cubicBezTo>
                    <a:pt x="11207" y="481262"/>
                    <a:pt x="7327" y="479655"/>
                    <a:pt x="4467" y="476795"/>
                  </a:cubicBezTo>
                  <a:cubicBezTo>
                    <a:pt x="1607" y="473934"/>
                    <a:pt x="0" y="470055"/>
                    <a:pt x="0" y="466010"/>
                  </a:cubicBezTo>
                  <a:lnTo>
                    <a:pt x="0" y="15252"/>
                  </a:lnTo>
                  <a:cubicBezTo>
                    <a:pt x="0" y="11207"/>
                    <a:pt x="1607" y="7327"/>
                    <a:pt x="4467" y="4467"/>
                  </a:cubicBezTo>
                  <a:cubicBezTo>
                    <a:pt x="7327" y="1607"/>
                    <a:pt x="11207" y="0"/>
                    <a:pt x="15252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1871703" cy="41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90226" y="7370076"/>
            <a:ext cx="7106621" cy="1888224"/>
            <a:chOff x="0" y="0"/>
            <a:chExt cx="1871703" cy="4973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71703" cy="497310"/>
            </a:xfrm>
            <a:custGeom>
              <a:avLst/>
              <a:gdLst/>
              <a:ahLst/>
              <a:cxnLst/>
              <a:rect r="r" b="b" t="t" l="l"/>
              <a:pathLst>
                <a:path h="497310" w="1871703">
                  <a:moveTo>
                    <a:pt x="15252" y="0"/>
                  </a:moveTo>
                  <a:lnTo>
                    <a:pt x="1856451" y="0"/>
                  </a:lnTo>
                  <a:cubicBezTo>
                    <a:pt x="1860496" y="0"/>
                    <a:pt x="1864375" y="1607"/>
                    <a:pt x="1867236" y="4467"/>
                  </a:cubicBezTo>
                  <a:cubicBezTo>
                    <a:pt x="1870096" y="7327"/>
                    <a:pt x="1871703" y="11207"/>
                    <a:pt x="1871703" y="15252"/>
                  </a:cubicBezTo>
                  <a:lnTo>
                    <a:pt x="1871703" y="482059"/>
                  </a:lnTo>
                  <a:cubicBezTo>
                    <a:pt x="1871703" y="486103"/>
                    <a:pt x="1870096" y="489983"/>
                    <a:pt x="1867236" y="492843"/>
                  </a:cubicBezTo>
                  <a:cubicBezTo>
                    <a:pt x="1864375" y="495703"/>
                    <a:pt x="1860496" y="497310"/>
                    <a:pt x="1856451" y="497310"/>
                  </a:cubicBezTo>
                  <a:lnTo>
                    <a:pt x="15252" y="497310"/>
                  </a:lnTo>
                  <a:cubicBezTo>
                    <a:pt x="11207" y="497310"/>
                    <a:pt x="7327" y="495703"/>
                    <a:pt x="4467" y="492843"/>
                  </a:cubicBezTo>
                  <a:cubicBezTo>
                    <a:pt x="1607" y="489983"/>
                    <a:pt x="0" y="486103"/>
                    <a:pt x="0" y="482059"/>
                  </a:cubicBezTo>
                  <a:lnTo>
                    <a:pt x="0" y="15252"/>
                  </a:lnTo>
                  <a:cubicBezTo>
                    <a:pt x="0" y="11207"/>
                    <a:pt x="1607" y="7327"/>
                    <a:pt x="4467" y="4467"/>
                  </a:cubicBezTo>
                  <a:cubicBezTo>
                    <a:pt x="7327" y="1607"/>
                    <a:pt x="11207" y="0"/>
                    <a:pt x="15252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871703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06396" y="5234202"/>
            <a:ext cx="4852904" cy="1888224"/>
            <a:chOff x="0" y="0"/>
            <a:chExt cx="1278131" cy="497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8131" cy="497310"/>
            </a:xfrm>
            <a:custGeom>
              <a:avLst/>
              <a:gdLst/>
              <a:ahLst/>
              <a:cxnLst/>
              <a:rect r="r" b="b" t="t" l="l"/>
              <a:pathLst>
                <a:path h="497310" w="1278131">
                  <a:moveTo>
                    <a:pt x="22334" y="0"/>
                  </a:moveTo>
                  <a:lnTo>
                    <a:pt x="1255797" y="0"/>
                  </a:lnTo>
                  <a:cubicBezTo>
                    <a:pt x="1268132" y="0"/>
                    <a:pt x="1278131" y="9999"/>
                    <a:pt x="1278131" y="22334"/>
                  </a:cubicBezTo>
                  <a:lnTo>
                    <a:pt x="1278131" y="474976"/>
                  </a:lnTo>
                  <a:cubicBezTo>
                    <a:pt x="1278131" y="480899"/>
                    <a:pt x="1275778" y="486580"/>
                    <a:pt x="1271589" y="490768"/>
                  </a:cubicBezTo>
                  <a:cubicBezTo>
                    <a:pt x="1267401" y="494957"/>
                    <a:pt x="1261720" y="497310"/>
                    <a:pt x="1255797" y="497310"/>
                  </a:cubicBezTo>
                  <a:lnTo>
                    <a:pt x="22334" y="497310"/>
                  </a:lnTo>
                  <a:cubicBezTo>
                    <a:pt x="9999" y="497310"/>
                    <a:pt x="0" y="487311"/>
                    <a:pt x="0" y="474976"/>
                  </a:cubicBezTo>
                  <a:lnTo>
                    <a:pt x="0" y="22334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4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278131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33928" y="5514616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06396" y="7370076"/>
            <a:ext cx="4852904" cy="1888224"/>
            <a:chOff x="0" y="0"/>
            <a:chExt cx="1278131" cy="4973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8131" cy="497310"/>
            </a:xfrm>
            <a:custGeom>
              <a:avLst/>
              <a:gdLst/>
              <a:ahLst/>
              <a:cxnLst/>
              <a:rect r="r" b="b" t="t" l="l"/>
              <a:pathLst>
                <a:path h="497310" w="1278131">
                  <a:moveTo>
                    <a:pt x="22334" y="0"/>
                  </a:moveTo>
                  <a:lnTo>
                    <a:pt x="1255797" y="0"/>
                  </a:lnTo>
                  <a:cubicBezTo>
                    <a:pt x="1268132" y="0"/>
                    <a:pt x="1278131" y="9999"/>
                    <a:pt x="1278131" y="22334"/>
                  </a:cubicBezTo>
                  <a:lnTo>
                    <a:pt x="1278131" y="474976"/>
                  </a:lnTo>
                  <a:cubicBezTo>
                    <a:pt x="1278131" y="480899"/>
                    <a:pt x="1275778" y="486580"/>
                    <a:pt x="1271589" y="490768"/>
                  </a:cubicBezTo>
                  <a:cubicBezTo>
                    <a:pt x="1267401" y="494957"/>
                    <a:pt x="1261720" y="497310"/>
                    <a:pt x="1255797" y="497310"/>
                  </a:cubicBezTo>
                  <a:lnTo>
                    <a:pt x="22334" y="497310"/>
                  </a:lnTo>
                  <a:cubicBezTo>
                    <a:pt x="9999" y="497310"/>
                    <a:pt x="0" y="487311"/>
                    <a:pt x="0" y="474976"/>
                  </a:cubicBezTo>
                  <a:lnTo>
                    <a:pt x="0" y="22334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4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278131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33928" y="7617464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01252" y="5570796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401252" y="7673644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033299" y="4687980"/>
            <a:ext cx="3239864" cy="4575703"/>
            <a:chOff x="0" y="0"/>
            <a:chExt cx="3267456" cy="4614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67456" cy="4618736"/>
            </a:xfrm>
            <a:custGeom>
              <a:avLst/>
              <a:gdLst/>
              <a:ahLst/>
              <a:cxnLst/>
              <a:rect r="r" b="b" t="t" l="l"/>
              <a:pathLst>
                <a:path h="4618736" w="3267456">
                  <a:moveTo>
                    <a:pt x="3267456" y="4618736"/>
                  </a:moveTo>
                  <a:lnTo>
                    <a:pt x="0" y="4618736"/>
                  </a:lnTo>
                  <a:lnTo>
                    <a:pt x="0" y="0"/>
                  </a:lnTo>
                  <a:lnTo>
                    <a:pt x="3267456" y="0"/>
                  </a:lnTo>
                  <a:lnTo>
                    <a:pt x="3267456" y="4618736"/>
                  </a:lnTo>
                  <a:close/>
                </a:path>
              </a:pathLst>
            </a:custGeom>
            <a:blipFill>
              <a:blip r:embed="rId9"/>
              <a:stretch>
                <a:fillRect l="-4" t="0" r="-4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44163" y="140959"/>
              <a:ext cx="2993427" cy="4317015"/>
            </a:xfrm>
            <a:custGeom>
              <a:avLst/>
              <a:gdLst/>
              <a:ahLst/>
              <a:cxnLst/>
              <a:rect r="r" b="b" t="t" l="l"/>
              <a:pathLst>
                <a:path h="4317015" w="2993427">
                  <a:moveTo>
                    <a:pt x="2993427" y="12700"/>
                  </a:moveTo>
                  <a:lnTo>
                    <a:pt x="2935892" y="4317015"/>
                  </a:lnTo>
                  <a:lnTo>
                    <a:pt x="0" y="4275547"/>
                  </a:lnTo>
                  <a:lnTo>
                    <a:pt x="0" y="0"/>
                  </a:lnTo>
                  <a:lnTo>
                    <a:pt x="2993427" y="12700"/>
                  </a:lnTo>
                  <a:close/>
                </a:path>
              </a:pathLst>
            </a:custGeom>
            <a:blipFill>
              <a:blip r:embed="rId10"/>
              <a:stretch>
                <a:fillRect l="-565" t="0" r="-565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772622" y="802620"/>
            <a:ext cx="1405991" cy="19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6"/>
              </a:lnSpc>
            </a:pPr>
            <a:r>
              <a:rPr lang="en-US" b="true" sz="1556" spc="-12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171511"/>
            <a:ext cx="3922780" cy="157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32"/>
              </a:lnSpc>
            </a:pPr>
            <a:r>
              <a:rPr lang="en-US" sz="6591" spc="-39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Currículo Relâmpago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5103" y="5561187"/>
            <a:ext cx="5388951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Use o projeto do grupo como base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15103" y="6025088"/>
            <a:ext cx="5781743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Preencha o template com o projeto desenvolvido nas últimas 3 semanas como primeiro item de destaque.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15103" y="7666248"/>
            <a:ext cx="5388951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Formato livre — escolha o seu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5103" y="8191775"/>
            <a:ext cx="5565807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Papel, Google Docs ou Canva. O importante é estruturar: contato, projetos, stack técnico e formação.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92970" y="5500640"/>
            <a:ext cx="2936533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Objetivo da Atividade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47779" y="5983441"/>
            <a:ext cx="3418847" cy="88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4"/>
              </a:lnSpc>
            </a:pPr>
            <a:r>
              <a:rPr lang="en-US" sz="3671" spc="-28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Rascunho Estrutural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92970" y="7636514"/>
            <a:ext cx="2936533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Tempo Total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47779" y="8119315"/>
            <a:ext cx="3418847" cy="46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4"/>
              </a:lnSpc>
            </a:pPr>
            <a:r>
              <a:rPr lang="en-US" sz="3671" spc="-28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20 min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90226" y="3441496"/>
            <a:ext cx="5533092" cy="81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Use o projeto do grupo como primeiro item. Não precisa ser bonito — o objetivo é sair com o esqueleto do currículo para refinar depois.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32944" y="2558571"/>
            <a:ext cx="4173031" cy="23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3"/>
              </a:lnSpc>
            </a:pPr>
            <a:r>
              <a:rPr lang="en-US" b="true" sz="175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Atividade Individual — 20 minutos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79930" y="3670644"/>
            <a:ext cx="5861886" cy="2708117"/>
            <a:chOff x="0" y="0"/>
            <a:chExt cx="1543871" cy="7132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79930" y="6614881"/>
            <a:ext cx="5861886" cy="2708117"/>
            <a:chOff x="0" y="0"/>
            <a:chExt cx="1543871" cy="713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31942" y="4223980"/>
            <a:ext cx="1538879" cy="1601446"/>
            <a:chOff x="0" y="0"/>
            <a:chExt cx="78104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31942" y="7168217"/>
            <a:ext cx="1538879" cy="1601446"/>
            <a:chOff x="0" y="0"/>
            <a:chExt cx="781045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97414" y="3670644"/>
            <a:ext cx="5861886" cy="2708117"/>
            <a:chOff x="0" y="0"/>
            <a:chExt cx="1543871" cy="713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97414" y="6614881"/>
            <a:ext cx="5861886" cy="2708117"/>
            <a:chOff x="0" y="0"/>
            <a:chExt cx="1543871" cy="7132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49426" y="4223980"/>
            <a:ext cx="1538879" cy="1601446"/>
            <a:chOff x="0" y="0"/>
            <a:chExt cx="781045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49426" y="7168217"/>
            <a:ext cx="1538879" cy="1601446"/>
            <a:chOff x="0" y="0"/>
            <a:chExt cx="781045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true" flipV="true" rot="2700000">
            <a:off x="-1515657" y="5232072"/>
            <a:ext cx="5097911" cy="3872289"/>
          </a:xfrm>
          <a:custGeom>
            <a:avLst/>
            <a:gdLst/>
            <a:ahLst/>
            <a:cxnLst/>
            <a:rect r="r" b="b" t="t" l="l"/>
            <a:pathLst>
              <a:path h="3872289" w="5097911">
                <a:moveTo>
                  <a:pt x="5097912" y="3872289"/>
                </a:moveTo>
                <a:lnTo>
                  <a:pt x="0" y="3872289"/>
                </a:lnTo>
                <a:lnTo>
                  <a:pt x="0" y="0"/>
                </a:lnTo>
                <a:lnTo>
                  <a:pt x="5097912" y="0"/>
                </a:lnTo>
                <a:lnTo>
                  <a:pt x="5097912" y="387228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12079" y="2054346"/>
            <a:ext cx="3743842" cy="9244053"/>
          </a:xfrm>
          <a:custGeom>
            <a:avLst/>
            <a:gdLst/>
            <a:ahLst/>
            <a:cxnLst/>
            <a:rect r="r" b="b" t="t" l="l"/>
            <a:pathLst>
              <a:path h="9244053" w="3743842">
                <a:moveTo>
                  <a:pt x="0" y="0"/>
                </a:moveTo>
                <a:lnTo>
                  <a:pt x="3743842" y="0"/>
                </a:lnTo>
                <a:lnTo>
                  <a:pt x="3743842" y="9244053"/>
                </a:lnTo>
                <a:lnTo>
                  <a:pt x="0" y="92440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959949" y="4644628"/>
            <a:ext cx="995834" cy="921228"/>
          </a:xfrm>
          <a:custGeom>
            <a:avLst/>
            <a:gdLst/>
            <a:ahLst/>
            <a:cxnLst/>
            <a:rect r="r" b="b" t="t" l="l"/>
            <a:pathLst>
              <a:path h="921228" w="995834">
                <a:moveTo>
                  <a:pt x="0" y="0"/>
                </a:moveTo>
                <a:lnTo>
                  <a:pt x="995834" y="0"/>
                </a:lnTo>
                <a:lnTo>
                  <a:pt x="995834" y="921227"/>
                </a:lnTo>
                <a:lnTo>
                  <a:pt x="0" y="9212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036100" y="4645206"/>
            <a:ext cx="760716" cy="813600"/>
          </a:xfrm>
          <a:custGeom>
            <a:avLst/>
            <a:gdLst/>
            <a:ahLst/>
            <a:cxnLst/>
            <a:rect r="r" b="b" t="t" l="l"/>
            <a:pathLst>
              <a:path h="813600" w="760716">
                <a:moveTo>
                  <a:pt x="0" y="0"/>
                </a:moveTo>
                <a:lnTo>
                  <a:pt x="760716" y="0"/>
                </a:lnTo>
                <a:lnTo>
                  <a:pt x="760716" y="813600"/>
                </a:lnTo>
                <a:lnTo>
                  <a:pt x="0" y="813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034126" y="7456003"/>
            <a:ext cx="792203" cy="1014020"/>
          </a:xfrm>
          <a:custGeom>
            <a:avLst/>
            <a:gdLst/>
            <a:ahLst/>
            <a:cxnLst/>
            <a:rect r="r" b="b" t="t" l="l"/>
            <a:pathLst>
              <a:path h="1014020" w="792203">
                <a:moveTo>
                  <a:pt x="0" y="0"/>
                </a:moveTo>
                <a:lnTo>
                  <a:pt x="792204" y="0"/>
                </a:lnTo>
                <a:lnTo>
                  <a:pt x="792204" y="1014020"/>
                </a:lnTo>
                <a:lnTo>
                  <a:pt x="0" y="10140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985011" y="7219879"/>
            <a:ext cx="823483" cy="1301949"/>
          </a:xfrm>
          <a:custGeom>
            <a:avLst/>
            <a:gdLst/>
            <a:ahLst/>
            <a:cxnLst/>
            <a:rect r="r" b="b" t="t" l="l"/>
            <a:pathLst>
              <a:path h="1301949" w="823483">
                <a:moveTo>
                  <a:pt x="0" y="0"/>
                </a:moveTo>
                <a:lnTo>
                  <a:pt x="823483" y="0"/>
                </a:lnTo>
                <a:lnTo>
                  <a:pt x="823483" y="1301949"/>
                </a:lnTo>
                <a:lnTo>
                  <a:pt x="0" y="130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72622" y="802620"/>
            <a:ext cx="1405991" cy="16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911624"/>
            <a:ext cx="9009907" cy="121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75"/>
              </a:lnSpc>
            </a:pPr>
            <a:r>
              <a:rPr lang="en-US" sz="5083" spc="-3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Checklist de Autoavaliação do Currículo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26420" y="4207312"/>
            <a:ext cx="1413459" cy="1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3"/>
              </a:lnSpc>
            </a:pPr>
            <a:r>
              <a:rPr lang="en-US" b="true" sz="158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Projeto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4279" y="4873207"/>
            <a:ext cx="1343253" cy="38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4"/>
              </a:lnSpc>
            </a:pPr>
            <a:r>
              <a:rPr lang="en-US" sz="1355" spc="-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 descrição clara?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26420" y="4720562"/>
            <a:ext cx="2339166" cy="5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2"/>
              </a:lnSpc>
            </a:pPr>
            <a:r>
              <a:rPr lang="en-US" sz="4236" spc="-33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✔ Sim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26420" y="7178933"/>
            <a:ext cx="1873231" cy="1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3"/>
              </a:lnSpc>
            </a:pPr>
            <a:r>
              <a:rPr lang="en-US" b="true" sz="158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Stack Técnico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17960" y="7849899"/>
            <a:ext cx="1343253" cy="38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4"/>
              </a:lnSpc>
            </a:pPr>
            <a:r>
              <a:rPr lang="en-US" sz="1355" spc="-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organizado por nível de domínio?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26420" y="7692183"/>
            <a:ext cx="2186766" cy="5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2"/>
              </a:lnSpc>
            </a:pPr>
            <a:r>
              <a:rPr lang="en-US" sz="4236" spc="-33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✔ Sim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43904" y="4207312"/>
            <a:ext cx="3371529" cy="1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3"/>
              </a:lnSpc>
            </a:pPr>
            <a:r>
              <a:rPr lang="en-US" b="true" sz="158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Link do GitHub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17135" y="4873207"/>
            <a:ext cx="1770912" cy="19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4"/>
              </a:lnSpc>
            </a:pPr>
            <a:r>
              <a:rPr lang="en-US" sz="1355" spc="-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conta criada e linkada?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43904" y="4720562"/>
            <a:ext cx="2162790" cy="5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2"/>
              </a:lnSpc>
            </a:pPr>
            <a:r>
              <a:rPr lang="en-US" sz="4236" spc="-33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✔ Sim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43904" y="7178933"/>
            <a:ext cx="3188223" cy="19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3"/>
              </a:lnSpc>
            </a:pPr>
            <a:r>
              <a:rPr lang="en-US" b="true" sz="158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Sem Erros de Português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17135" y="7849899"/>
            <a:ext cx="1576230" cy="19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4"/>
              </a:lnSpc>
            </a:pPr>
            <a:r>
              <a:rPr lang="en-US" sz="1355" spc="-2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revisado e corrigido?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43904" y="7692183"/>
            <a:ext cx="1873231" cy="52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12"/>
              </a:lnSpc>
            </a:pPr>
            <a:r>
              <a:rPr lang="en-US" sz="4236" spc="-33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✔ Sim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13765">
            <a:off x="7651338" y="-1211460"/>
            <a:ext cx="10842835" cy="7969484"/>
          </a:xfrm>
          <a:custGeom>
            <a:avLst/>
            <a:gdLst/>
            <a:ahLst/>
            <a:cxnLst/>
            <a:rect r="r" b="b" t="t" l="l"/>
            <a:pathLst>
              <a:path h="7969484" w="10842835">
                <a:moveTo>
                  <a:pt x="0" y="0"/>
                </a:moveTo>
                <a:lnTo>
                  <a:pt x="10842835" y="0"/>
                </a:lnTo>
                <a:lnTo>
                  <a:pt x="10842835" y="7969484"/>
                </a:lnTo>
                <a:lnTo>
                  <a:pt x="0" y="7969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4717" y="5620998"/>
            <a:ext cx="14622731" cy="132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43"/>
              </a:lnSpc>
            </a:pPr>
            <a:r>
              <a:rPr lang="en-US" sz="10714" spc="-857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para a Prática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6715433" y="770845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6310" y="3452334"/>
            <a:ext cx="6060353" cy="2286028"/>
            <a:chOff x="0" y="0"/>
            <a:chExt cx="1365031" cy="5149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5032" cy="514904"/>
            </a:xfrm>
            <a:custGeom>
              <a:avLst/>
              <a:gdLst/>
              <a:ahLst/>
              <a:cxnLst/>
              <a:rect r="r" b="b" t="t" l="l"/>
              <a:pathLst>
                <a:path h="514904" w="1365032">
                  <a:moveTo>
                    <a:pt x="0" y="0"/>
                  </a:moveTo>
                  <a:lnTo>
                    <a:pt x="1365032" y="0"/>
                  </a:lnTo>
                  <a:lnTo>
                    <a:pt x="1365032" y="514904"/>
                  </a:lnTo>
                  <a:lnTo>
                    <a:pt x="0" y="514904"/>
                  </a:ln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365031" cy="476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02544" y="661539"/>
            <a:ext cx="4662215" cy="4862806"/>
          </a:xfrm>
          <a:custGeom>
            <a:avLst/>
            <a:gdLst/>
            <a:ahLst/>
            <a:cxnLst/>
            <a:rect r="r" b="b" t="t" l="l"/>
            <a:pathLst>
              <a:path h="4862806" w="4662215">
                <a:moveTo>
                  <a:pt x="0" y="0"/>
                </a:moveTo>
                <a:lnTo>
                  <a:pt x="4662215" y="0"/>
                </a:lnTo>
                <a:lnTo>
                  <a:pt x="4662215" y="4862806"/>
                </a:lnTo>
                <a:lnTo>
                  <a:pt x="0" y="48628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339" y="3375801"/>
            <a:ext cx="5943157" cy="256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43"/>
              </a:lnSpc>
            </a:pPr>
            <a:r>
              <a:rPr lang="en-US" b="true" sz="10714" spc="-8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DA FOLHA</a:t>
            </a:r>
          </a:p>
          <a:p>
            <a:pPr algn="l" marL="0" indent="0" lvl="0">
              <a:lnSpc>
                <a:spcPts val="9643"/>
              </a:lnSpc>
            </a:pPr>
            <a:r>
              <a:rPr lang="en-US" b="true" sz="10714" spc="-85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DE PAPEL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22" y="763752"/>
            <a:ext cx="1385710" cy="25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0"/>
              </a:lnSpc>
            </a:pPr>
            <a:r>
              <a:rPr lang="en-US" b="true" sz="2034" spc="-15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9236" y="8765255"/>
            <a:ext cx="4250064" cy="484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50"/>
              </a:lnSpc>
            </a:pPr>
            <a:r>
              <a:rPr lang="en-US" b="true" sz="2034" spc="-15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Aula 12 | UC1: Planejar o Desenvolvimento de Software | Senac-RS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299" y="8765255"/>
            <a:ext cx="4250064" cy="484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50"/>
              </a:lnSpc>
            </a:pPr>
            <a:r>
              <a:rPr lang="en-US" b="true" sz="2034" spc="-15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Hoje Vocês</a:t>
            </a:r>
          </a:p>
          <a:p>
            <a:pPr algn="l" marL="0" indent="0" lvl="0">
              <a:lnSpc>
                <a:spcPts val="1850"/>
              </a:lnSpc>
            </a:pPr>
            <a:r>
              <a:rPr lang="en-US" b="true" sz="2034" spc="-15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Entrevistam Uns aos Outros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8112" y="8943882"/>
            <a:ext cx="5320974" cy="25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50"/>
              </a:lnSpc>
            </a:pPr>
            <a:r>
              <a:rPr lang="en-US" b="true" sz="2034" spc="-15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381584">
            <a:off x="11997256" y="488160"/>
            <a:ext cx="7938068" cy="6029624"/>
          </a:xfrm>
          <a:custGeom>
            <a:avLst/>
            <a:gdLst/>
            <a:ahLst/>
            <a:cxnLst/>
            <a:rect r="r" b="b" t="t" l="l"/>
            <a:pathLst>
              <a:path h="6029624" w="7938068">
                <a:moveTo>
                  <a:pt x="0" y="0"/>
                </a:moveTo>
                <a:lnTo>
                  <a:pt x="7938068" y="0"/>
                </a:lnTo>
                <a:lnTo>
                  <a:pt x="7938068" y="6029624"/>
                </a:lnTo>
                <a:lnTo>
                  <a:pt x="0" y="6029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4046248"/>
            <a:ext cx="5098779" cy="5394624"/>
            <a:chOff x="0" y="0"/>
            <a:chExt cx="1342888" cy="1420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61805" y="4046248"/>
            <a:ext cx="5098779" cy="5394624"/>
            <a:chOff x="0" y="0"/>
            <a:chExt cx="1342888" cy="14208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60521" y="4046248"/>
            <a:ext cx="5098779" cy="5394624"/>
            <a:chOff x="0" y="0"/>
            <a:chExt cx="1342888" cy="14208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2888" cy="1420806"/>
            </a:xfrm>
            <a:custGeom>
              <a:avLst/>
              <a:gdLst/>
              <a:ahLst/>
              <a:cxnLst/>
              <a:rect r="r" b="b" t="t" l="l"/>
              <a:pathLst>
                <a:path h="1420806" w="1342888">
                  <a:moveTo>
                    <a:pt x="21257" y="0"/>
                  </a:moveTo>
                  <a:lnTo>
                    <a:pt x="1321631" y="0"/>
                  </a:lnTo>
                  <a:cubicBezTo>
                    <a:pt x="1333371" y="0"/>
                    <a:pt x="1342888" y="9517"/>
                    <a:pt x="1342888" y="21257"/>
                  </a:cubicBezTo>
                  <a:lnTo>
                    <a:pt x="1342888" y="1399549"/>
                  </a:lnTo>
                  <a:cubicBezTo>
                    <a:pt x="1342888" y="1405187"/>
                    <a:pt x="1340649" y="1410594"/>
                    <a:pt x="1336662" y="1414580"/>
                  </a:cubicBezTo>
                  <a:cubicBezTo>
                    <a:pt x="1332676" y="1418567"/>
                    <a:pt x="1327269" y="1420806"/>
                    <a:pt x="1321631" y="1420806"/>
                  </a:cubicBezTo>
                  <a:lnTo>
                    <a:pt x="21257" y="1420806"/>
                  </a:lnTo>
                  <a:cubicBezTo>
                    <a:pt x="9517" y="1420806"/>
                    <a:pt x="0" y="1411289"/>
                    <a:pt x="0" y="1399549"/>
                  </a:cubicBezTo>
                  <a:lnTo>
                    <a:pt x="0" y="21257"/>
                  </a:lnTo>
                  <a:cubicBezTo>
                    <a:pt x="0" y="15620"/>
                    <a:pt x="2240" y="10213"/>
                    <a:pt x="6226" y="6226"/>
                  </a:cubicBezTo>
                  <a:cubicBezTo>
                    <a:pt x="10213" y="2240"/>
                    <a:pt x="15620" y="0"/>
                    <a:pt x="21257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66675"/>
              <a:ext cx="1342888" cy="1354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78612" y="4556106"/>
            <a:ext cx="2491152" cy="2226708"/>
            <a:chOff x="0" y="0"/>
            <a:chExt cx="909328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34" r="0" b="-13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2622" y="831195"/>
            <a:ext cx="1405991" cy="2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2"/>
              </a:lnSpc>
            </a:pPr>
            <a:r>
              <a:rPr lang="en-US" b="true" sz="2398" spc="-18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2167787"/>
            <a:ext cx="10483039" cy="92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80"/>
              </a:lnSpc>
            </a:pPr>
            <a:r>
              <a:rPr lang="en-US" sz="7533" spc="-45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Como Funciona a Dinâmica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6762" y="4468524"/>
            <a:ext cx="1520382" cy="88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3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26762" y="7270884"/>
            <a:ext cx="3538070" cy="36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Formar Duplas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6762" y="8215759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Cada aluno se organiza em dupla. Escolham alguém com quem ainda não trabalhou hoje.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774349" y="4556106"/>
            <a:ext cx="2491152" cy="2226708"/>
            <a:chOff x="0" y="0"/>
            <a:chExt cx="909328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34" r="0" b="-13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022499" y="4468524"/>
            <a:ext cx="1520382" cy="88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3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022499" y="7270884"/>
            <a:ext cx="4243002" cy="73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Rodada 1 — 10 min: A entrevista 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22499" y="8215759"/>
            <a:ext cx="3946285" cy="81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 perguntas comportamentais + 2 técnicas (requisitos, stack, metodologia). Feedback ao final.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340260" y="4373534"/>
            <a:ext cx="2491152" cy="2226708"/>
            <a:chOff x="0" y="0"/>
            <a:chExt cx="909328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9328" cy="812800"/>
            </a:xfrm>
            <a:custGeom>
              <a:avLst/>
              <a:gdLst/>
              <a:ahLst/>
              <a:cxnLst/>
              <a:rect r="r" b="b" t="t" l="l"/>
              <a:pathLst>
                <a:path h="812800" w="909328">
                  <a:moveTo>
                    <a:pt x="15539" y="0"/>
                  </a:moveTo>
                  <a:lnTo>
                    <a:pt x="893789" y="0"/>
                  </a:lnTo>
                  <a:cubicBezTo>
                    <a:pt x="902371" y="0"/>
                    <a:pt x="909328" y="6957"/>
                    <a:pt x="909328" y="15539"/>
                  </a:cubicBezTo>
                  <a:lnTo>
                    <a:pt x="909328" y="797261"/>
                  </a:lnTo>
                  <a:cubicBezTo>
                    <a:pt x="909328" y="801382"/>
                    <a:pt x="907691" y="805335"/>
                    <a:pt x="904777" y="808249"/>
                  </a:cubicBezTo>
                  <a:cubicBezTo>
                    <a:pt x="901863" y="811163"/>
                    <a:pt x="897911" y="812800"/>
                    <a:pt x="893789" y="812800"/>
                  </a:cubicBezTo>
                  <a:lnTo>
                    <a:pt x="15539" y="812800"/>
                  </a:lnTo>
                  <a:cubicBezTo>
                    <a:pt x="11418" y="812800"/>
                    <a:pt x="7465" y="811163"/>
                    <a:pt x="4551" y="808249"/>
                  </a:cubicBezTo>
                  <a:cubicBezTo>
                    <a:pt x="1637" y="805335"/>
                    <a:pt x="0" y="801382"/>
                    <a:pt x="0" y="797261"/>
                  </a:cubicBezTo>
                  <a:lnTo>
                    <a:pt x="0" y="15539"/>
                  </a:lnTo>
                  <a:cubicBezTo>
                    <a:pt x="0" y="11418"/>
                    <a:pt x="1637" y="7465"/>
                    <a:pt x="4551" y="4551"/>
                  </a:cubicBezTo>
                  <a:cubicBezTo>
                    <a:pt x="7465" y="1637"/>
                    <a:pt x="11418" y="0"/>
                    <a:pt x="15539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34" r="0" b="-134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588410" y="4468524"/>
            <a:ext cx="1520382" cy="88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3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588410" y="7270884"/>
            <a:ext cx="3538070" cy="73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6"/>
              </a:lnSpc>
            </a:pPr>
            <a:r>
              <a:rPr lang="en-US" b="true" sz="269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Rodada 2 — 10 min: Papéis Invertidos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8410" y="8215759"/>
            <a:ext cx="3946285" cy="54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79"/>
              </a:lnSpc>
            </a:pPr>
            <a:r>
              <a:rPr lang="en-US" sz="1556" spc="-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Agora B entrevista A. Use vocabulário técnico da UC1: requisitos, sprint, stack, metodologia.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693577" y="797881"/>
            <a:ext cx="582077" cy="611732"/>
          </a:xfrm>
          <a:custGeom>
            <a:avLst/>
            <a:gdLst/>
            <a:ahLst/>
            <a:cxnLst/>
            <a:rect r="r" b="b" t="t" l="l"/>
            <a:pathLst>
              <a:path h="611732" w="582077">
                <a:moveTo>
                  <a:pt x="0" y="0"/>
                </a:moveTo>
                <a:lnTo>
                  <a:pt x="582077" y="0"/>
                </a:lnTo>
                <a:lnTo>
                  <a:pt x="582077" y="611732"/>
                </a:lnTo>
                <a:lnTo>
                  <a:pt x="0" y="611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59639" y="1830023"/>
            <a:ext cx="4773478" cy="3691578"/>
            <a:chOff x="0" y="0"/>
            <a:chExt cx="1257212" cy="972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85822" y="1830023"/>
            <a:ext cx="4773478" cy="3691578"/>
            <a:chOff x="0" y="0"/>
            <a:chExt cx="1257212" cy="972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59639" y="5830902"/>
            <a:ext cx="4773478" cy="3691578"/>
            <a:chOff x="0" y="0"/>
            <a:chExt cx="1257212" cy="9722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85822" y="5830902"/>
            <a:ext cx="4773478" cy="3691578"/>
            <a:chOff x="0" y="0"/>
            <a:chExt cx="1257212" cy="972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60874" y="4203047"/>
            <a:ext cx="791495" cy="79149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91322" y="4203047"/>
            <a:ext cx="791495" cy="7914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60874" y="8151809"/>
            <a:ext cx="791495" cy="7914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91322" y="8151809"/>
            <a:ext cx="791495" cy="7914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228502" y="4449771"/>
            <a:ext cx="473535" cy="424998"/>
          </a:xfrm>
          <a:custGeom>
            <a:avLst/>
            <a:gdLst/>
            <a:ahLst/>
            <a:cxnLst/>
            <a:rect r="r" b="b" t="t" l="l"/>
            <a:pathLst>
              <a:path h="424998" w="473535">
                <a:moveTo>
                  <a:pt x="0" y="0"/>
                </a:moveTo>
                <a:lnTo>
                  <a:pt x="473536" y="0"/>
                </a:lnTo>
                <a:lnTo>
                  <a:pt x="473536" y="424998"/>
                </a:lnTo>
                <a:lnTo>
                  <a:pt x="0" y="424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194539" y="4354034"/>
            <a:ext cx="502071" cy="472574"/>
          </a:xfrm>
          <a:custGeom>
            <a:avLst/>
            <a:gdLst/>
            <a:ahLst/>
            <a:cxnLst/>
            <a:rect r="r" b="b" t="t" l="l"/>
            <a:pathLst>
              <a:path h="472574" w="502071">
                <a:moveTo>
                  <a:pt x="0" y="0"/>
                </a:moveTo>
                <a:lnTo>
                  <a:pt x="502071" y="0"/>
                </a:lnTo>
                <a:lnTo>
                  <a:pt x="502071" y="472575"/>
                </a:lnTo>
                <a:lnTo>
                  <a:pt x="0" y="472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73391" y="8321703"/>
            <a:ext cx="406291" cy="386485"/>
          </a:xfrm>
          <a:custGeom>
            <a:avLst/>
            <a:gdLst/>
            <a:ahLst/>
            <a:cxnLst/>
            <a:rect r="r" b="b" t="t" l="l"/>
            <a:pathLst>
              <a:path h="386485" w="406291">
                <a:moveTo>
                  <a:pt x="0" y="0"/>
                </a:moveTo>
                <a:lnTo>
                  <a:pt x="406291" y="0"/>
                </a:lnTo>
                <a:lnTo>
                  <a:pt x="406291" y="386485"/>
                </a:lnTo>
                <a:lnTo>
                  <a:pt x="0" y="3864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305766" y="8356982"/>
            <a:ext cx="369353" cy="429480"/>
          </a:xfrm>
          <a:custGeom>
            <a:avLst/>
            <a:gdLst/>
            <a:ahLst/>
            <a:cxnLst/>
            <a:rect r="r" b="b" t="t" l="l"/>
            <a:pathLst>
              <a:path h="429480" w="369353">
                <a:moveTo>
                  <a:pt x="0" y="0"/>
                </a:moveTo>
                <a:lnTo>
                  <a:pt x="369353" y="0"/>
                </a:lnTo>
                <a:lnTo>
                  <a:pt x="369353" y="429480"/>
                </a:lnTo>
                <a:lnTo>
                  <a:pt x="0" y="4294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772622" y="802620"/>
            <a:ext cx="1405991" cy="2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6"/>
              </a:lnSpc>
            </a:pPr>
            <a:r>
              <a:rPr lang="en-US" b="true" sz="1644" spc="-12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3299" y="2087198"/>
            <a:ext cx="5178565" cy="212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94"/>
              </a:lnSpc>
            </a:pPr>
            <a:r>
              <a:rPr lang="en-US" sz="8993" spc="-53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Roteiro de Perguntas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8278403"/>
            <a:ext cx="4992664" cy="57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</a:pPr>
            <a:r>
              <a:rPr lang="en-US" sz="164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Aula 12 | UC1: Planejar o Desenvolvimento de Software | 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77343" y="2196715"/>
            <a:ext cx="3538070" cy="2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6"/>
              </a:lnSpc>
            </a:pPr>
            <a:r>
              <a:rPr lang="en-US" b="true" sz="191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Perguntas Comportamentais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77343" y="3035132"/>
            <a:ext cx="3946285" cy="57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</a:pPr>
            <a:r>
              <a:rPr lang="en-US" sz="1644" spc="-3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"Conte sobre um desafio em equipe que enfrentou no projeto"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7343" y="4055888"/>
            <a:ext cx="2759196" cy="109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3"/>
              </a:lnSpc>
            </a:pPr>
            <a:r>
              <a:rPr lang="en-US" sz="3136" spc="-188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"Como lidou com uma mudança de requisito?"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03526" y="2196715"/>
            <a:ext cx="3611907" cy="2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6"/>
              </a:lnSpc>
            </a:pPr>
            <a:r>
              <a:rPr lang="en-US" b="true" sz="191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Perguntas Técnicas Teóricas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03526" y="3035132"/>
            <a:ext cx="3946285" cy="57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</a:pPr>
            <a:r>
              <a:rPr lang="en-US" sz="1644" spc="-3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"Qual a diferença entre RF e RNF?" | "Por que seu grupo escolheu essa metodologia?"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03526" y="4055888"/>
            <a:ext cx="2759196" cy="73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3"/>
              </a:lnSpc>
            </a:pPr>
            <a:r>
              <a:rPr lang="en-US" sz="3136" spc="-188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"O que é um Sprint Backlog?"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77343" y="6197594"/>
            <a:ext cx="3538070" cy="4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6"/>
              </a:lnSpc>
            </a:pPr>
            <a:r>
              <a:rPr lang="en-US" b="true" sz="191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Ficha de Feedback —</a:t>
            </a:r>
          </a:p>
          <a:p>
            <a:pPr algn="l" marL="0" indent="0" lvl="0">
              <a:lnSpc>
                <a:spcPts val="1726"/>
              </a:lnSpc>
            </a:pPr>
            <a:r>
              <a:rPr lang="en-US" b="true" sz="191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Ponto Forte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77343" y="7036011"/>
            <a:ext cx="3946285" cy="57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</a:pPr>
            <a:r>
              <a:rPr lang="en-US" sz="1644" spc="-3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Identifique 1 ponto forte na resposta do colega e registre com clareza.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77343" y="8056767"/>
            <a:ext cx="2759196" cy="38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3"/>
              </a:lnSpc>
            </a:pPr>
            <a:r>
              <a:rPr lang="en-US" sz="3136" spc="-188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✓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03526" y="6197594"/>
            <a:ext cx="3029339" cy="46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6"/>
              </a:lnSpc>
            </a:pPr>
            <a:r>
              <a:rPr lang="en-US" b="true" sz="1918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Ficha de Feedback — Sugestão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03526" y="7036011"/>
            <a:ext cx="3946285" cy="57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2"/>
              </a:lnSpc>
            </a:pPr>
            <a:r>
              <a:rPr lang="en-US" sz="1644" spc="-3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Aponte 1 sugestão concreta para melhorar a próxima resposta do colega.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03526" y="8056767"/>
            <a:ext cx="2759196" cy="386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3"/>
              </a:lnSpc>
            </a:pPr>
            <a:r>
              <a:rPr lang="en-US" sz="3136" spc="-188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→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48455" y="762874"/>
            <a:ext cx="541620" cy="547507"/>
          </a:xfrm>
          <a:custGeom>
            <a:avLst/>
            <a:gdLst/>
            <a:ahLst/>
            <a:cxnLst/>
            <a:rect r="r" b="b" t="t" l="l"/>
            <a:pathLst>
              <a:path h="547507" w="541620">
                <a:moveTo>
                  <a:pt x="0" y="0"/>
                </a:moveTo>
                <a:lnTo>
                  <a:pt x="541620" y="0"/>
                </a:lnTo>
                <a:lnTo>
                  <a:pt x="541620" y="547508"/>
                </a:lnTo>
                <a:lnTo>
                  <a:pt x="0" y="5475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79930" y="3670644"/>
            <a:ext cx="5861886" cy="2708117"/>
            <a:chOff x="0" y="0"/>
            <a:chExt cx="1543871" cy="7132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79930" y="6614881"/>
            <a:ext cx="5861886" cy="2708117"/>
            <a:chOff x="0" y="0"/>
            <a:chExt cx="1543871" cy="7132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31942" y="4223980"/>
            <a:ext cx="1538879" cy="1601446"/>
            <a:chOff x="0" y="0"/>
            <a:chExt cx="781045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31942" y="7168217"/>
            <a:ext cx="1538879" cy="1601446"/>
            <a:chOff x="0" y="0"/>
            <a:chExt cx="781045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397414" y="3670644"/>
            <a:ext cx="5861886" cy="2708117"/>
            <a:chOff x="0" y="0"/>
            <a:chExt cx="1543871" cy="713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97414" y="6614881"/>
            <a:ext cx="5861886" cy="2708117"/>
            <a:chOff x="0" y="0"/>
            <a:chExt cx="1543871" cy="7132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3871" cy="713249"/>
            </a:xfrm>
            <a:custGeom>
              <a:avLst/>
              <a:gdLst/>
              <a:ahLst/>
              <a:cxnLst/>
              <a:rect r="r" b="b" t="t" l="l"/>
              <a:pathLst>
                <a:path h="713249" w="1543871">
                  <a:moveTo>
                    <a:pt x="67357" y="0"/>
                  </a:moveTo>
                  <a:lnTo>
                    <a:pt x="1476514" y="0"/>
                  </a:lnTo>
                  <a:cubicBezTo>
                    <a:pt x="1494379" y="0"/>
                    <a:pt x="1511511" y="7097"/>
                    <a:pt x="1524143" y="19728"/>
                  </a:cubicBezTo>
                  <a:cubicBezTo>
                    <a:pt x="1536775" y="32360"/>
                    <a:pt x="1543871" y="49493"/>
                    <a:pt x="1543871" y="67357"/>
                  </a:cubicBezTo>
                  <a:lnTo>
                    <a:pt x="1543871" y="645892"/>
                  </a:lnTo>
                  <a:cubicBezTo>
                    <a:pt x="1543871" y="683092"/>
                    <a:pt x="1513714" y="713249"/>
                    <a:pt x="1476514" y="713249"/>
                  </a:cubicBezTo>
                  <a:lnTo>
                    <a:pt x="67357" y="713249"/>
                  </a:lnTo>
                  <a:cubicBezTo>
                    <a:pt x="49493" y="713249"/>
                    <a:pt x="32360" y="706152"/>
                    <a:pt x="19728" y="693521"/>
                  </a:cubicBezTo>
                  <a:cubicBezTo>
                    <a:pt x="7097" y="680889"/>
                    <a:pt x="0" y="663756"/>
                    <a:pt x="0" y="645892"/>
                  </a:cubicBezTo>
                  <a:lnTo>
                    <a:pt x="0" y="67357"/>
                  </a:lnTo>
                  <a:cubicBezTo>
                    <a:pt x="0" y="49493"/>
                    <a:pt x="7097" y="32360"/>
                    <a:pt x="19728" y="19728"/>
                  </a:cubicBezTo>
                  <a:cubicBezTo>
                    <a:pt x="32360" y="7097"/>
                    <a:pt x="49493" y="0"/>
                    <a:pt x="67357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66675"/>
              <a:ext cx="1543871" cy="646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49426" y="4223980"/>
            <a:ext cx="1538879" cy="1601446"/>
            <a:chOff x="0" y="0"/>
            <a:chExt cx="781045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49426" y="7168217"/>
            <a:ext cx="1538879" cy="1601446"/>
            <a:chOff x="0" y="0"/>
            <a:chExt cx="781045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1045" cy="812800"/>
            </a:xfrm>
            <a:custGeom>
              <a:avLst/>
              <a:gdLst/>
              <a:ahLst/>
              <a:cxnLst/>
              <a:rect r="r" b="b" t="t" l="l"/>
              <a:pathLst>
                <a:path h="812800" w="781045">
                  <a:moveTo>
                    <a:pt x="390522" y="0"/>
                  </a:moveTo>
                  <a:cubicBezTo>
                    <a:pt x="174843" y="0"/>
                    <a:pt x="0" y="181951"/>
                    <a:pt x="0" y="406400"/>
                  </a:cubicBezTo>
                  <a:cubicBezTo>
                    <a:pt x="0" y="630849"/>
                    <a:pt x="174843" y="812800"/>
                    <a:pt x="390522" y="812800"/>
                  </a:cubicBezTo>
                  <a:cubicBezTo>
                    <a:pt x="606202" y="812800"/>
                    <a:pt x="781045" y="630849"/>
                    <a:pt x="781045" y="406400"/>
                  </a:cubicBezTo>
                  <a:cubicBezTo>
                    <a:pt x="781045" y="181951"/>
                    <a:pt x="606202" y="0"/>
                    <a:pt x="390522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3223" y="142875"/>
              <a:ext cx="634599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true" flipV="true" rot="2700000">
            <a:off x="-1515657" y="5232072"/>
            <a:ext cx="5097911" cy="3872289"/>
          </a:xfrm>
          <a:custGeom>
            <a:avLst/>
            <a:gdLst/>
            <a:ahLst/>
            <a:cxnLst/>
            <a:rect r="r" b="b" t="t" l="l"/>
            <a:pathLst>
              <a:path h="3872289" w="5097911">
                <a:moveTo>
                  <a:pt x="5097912" y="3872289"/>
                </a:moveTo>
                <a:lnTo>
                  <a:pt x="0" y="3872289"/>
                </a:lnTo>
                <a:lnTo>
                  <a:pt x="0" y="0"/>
                </a:lnTo>
                <a:lnTo>
                  <a:pt x="5097912" y="0"/>
                </a:lnTo>
                <a:lnTo>
                  <a:pt x="5097912" y="387228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59483" y="3775603"/>
            <a:ext cx="3685113" cy="5292802"/>
          </a:xfrm>
          <a:custGeom>
            <a:avLst/>
            <a:gdLst/>
            <a:ahLst/>
            <a:cxnLst/>
            <a:rect r="r" b="b" t="t" l="l"/>
            <a:pathLst>
              <a:path h="5292802" w="3685113">
                <a:moveTo>
                  <a:pt x="0" y="0"/>
                </a:moveTo>
                <a:lnTo>
                  <a:pt x="3685114" y="0"/>
                </a:lnTo>
                <a:lnTo>
                  <a:pt x="3685114" y="5292802"/>
                </a:lnTo>
                <a:lnTo>
                  <a:pt x="0" y="52928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065669" y="4628000"/>
            <a:ext cx="799717" cy="939462"/>
          </a:xfrm>
          <a:custGeom>
            <a:avLst/>
            <a:gdLst/>
            <a:ahLst/>
            <a:cxnLst/>
            <a:rect r="r" b="b" t="t" l="l"/>
            <a:pathLst>
              <a:path h="939462" w="799717">
                <a:moveTo>
                  <a:pt x="0" y="0"/>
                </a:moveTo>
                <a:lnTo>
                  <a:pt x="799717" y="0"/>
                </a:lnTo>
                <a:lnTo>
                  <a:pt x="799717" y="939462"/>
                </a:lnTo>
                <a:lnTo>
                  <a:pt x="0" y="9394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976511" y="4653972"/>
            <a:ext cx="881814" cy="852053"/>
          </a:xfrm>
          <a:custGeom>
            <a:avLst/>
            <a:gdLst/>
            <a:ahLst/>
            <a:cxnLst/>
            <a:rect r="r" b="b" t="t" l="l"/>
            <a:pathLst>
              <a:path h="852053" w="881814">
                <a:moveTo>
                  <a:pt x="0" y="0"/>
                </a:moveTo>
                <a:lnTo>
                  <a:pt x="881814" y="0"/>
                </a:lnTo>
                <a:lnTo>
                  <a:pt x="881814" y="852052"/>
                </a:lnTo>
                <a:lnTo>
                  <a:pt x="0" y="852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030291" y="7441259"/>
            <a:ext cx="785020" cy="1034623"/>
          </a:xfrm>
          <a:custGeom>
            <a:avLst/>
            <a:gdLst/>
            <a:ahLst/>
            <a:cxnLst/>
            <a:rect r="r" b="b" t="t" l="l"/>
            <a:pathLst>
              <a:path h="1034623" w="785020">
                <a:moveTo>
                  <a:pt x="0" y="0"/>
                </a:moveTo>
                <a:lnTo>
                  <a:pt x="785020" y="0"/>
                </a:lnTo>
                <a:lnTo>
                  <a:pt x="785020" y="1034623"/>
                </a:lnTo>
                <a:lnTo>
                  <a:pt x="0" y="10346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960199" y="7495792"/>
            <a:ext cx="872953" cy="1037686"/>
          </a:xfrm>
          <a:custGeom>
            <a:avLst/>
            <a:gdLst/>
            <a:ahLst/>
            <a:cxnLst/>
            <a:rect r="r" b="b" t="t" l="l"/>
            <a:pathLst>
              <a:path h="1037686" w="872953">
                <a:moveTo>
                  <a:pt x="0" y="0"/>
                </a:moveTo>
                <a:lnTo>
                  <a:pt x="872953" y="0"/>
                </a:lnTo>
                <a:lnTo>
                  <a:pt x="872953" y="1037686"/>
                </a:lnTo>
                <a:lnTo>
                  <a:pt x="0" y="10376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772622" y="793095"/>
            <a:ext cx="1405991" cy="415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2"/>
              </a:lnSpc>
            </a:pPr>
            <a:r>
              <a:rPr lang="en-US" b="true" sz="1200" spc="-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Aula 12 | UC1: Planejar o Desenvolvimento de Software | 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892574"/>
            <a:ext cx="9009907" cy="56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</a:pPr>
            <a:r>
              <a:rPr lang="en-US" sz="4500" spc="-27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Critérios de Avaliação Final da UC1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26420" y="4207312"/>
            <a:ext cx="1413459" cy="16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</a:pPr>
            <a:r>
              <a:rPr lang="en-US" b="true" sz="1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Indicador 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4279" y="4863682"/>
            <a:ext cx="1343253" cy="82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2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Planeja e documenta requisitos conforme as necessidades do cliente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26420" y="4711037"/>
            <a:ext cx="2339166" cy="46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</a:pPr>
            <a:r>
              <a:rPr lang="en-US" sz="3750" spc="-29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 / 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26420" y="7178933"/>
            <a:ext cx="1873231" cy="16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</a:pPr>
            <a:r>
              <a:rPr lang="en-US" b="true" sz="1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Indicador 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17960" y="7840374"/>
            <a:ext cx="1343253" cy="66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2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Utiliza tecnologias de desenvolvimento conforme os requisitos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326420" y="7682658"/>
            <a:ext cx="2186766" cy="46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</a:pPr>
            <a:r>
              <a:rPr lang="en-US" sz="3750" spc="-29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 / ND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43904" y="4207312"/>
            <a:ext cx="3371529" cy="16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</a:pPr>
            <a:r>
              <a:rPr lang="en-US" b="true" sz="1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Indicador 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217135" y="4863682"/>
            <a:ext cx="1770912" cy="49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2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Utiliza metodologias conforme o projeto de sistema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343904" y="4711037"/>
            <a:ext cx="2162790" cy="46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</a:pPr>
            <a:r>
              <a:rPr lang="en-US" sz="3750" spc="-29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 / ND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343904" y="7178933"/>
            <a:ext cx="3188223" cy="16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"/>
              </a:lnSpc>
            </a:pPr>
            <a:r>
              <a:rPr lang="en-US" b="true" sz="14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Menção Final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17135" y="7840374"/>
            <a:ext cx="1576230" cy="49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2"/>
              </a:lnSpc>
            </a:pPr>
            <a:r>
              <a:rPr lang="en-US" sz="1200" spc="-2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 = Desenvolvida | ND = Não Desenvolvida — por indicador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43904" y="7682658"/>
            <a:ext cx="1873231" cy="46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</a:pPr>
            <a:r>
              <a:rPr lang="en-US" sz="3750" spc="-29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22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59639" y="1830023"/>
            <a:ext cx="4773478" cy="3691578"/>
            <a:chOff x="0" y="0"/>
            <a:chExt cx="1257212" cy="9722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85822" y="1830023"/>
            <a:ext cx="4773478" cy="3691578"/>
            <a:chOff x="0" y="0"/>
            <a:chExt cx="1257212" cy="972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459639" y="5830902"/>
            <a:ext cx="4773478" cy="3691578"/>
            <a:chOff x="0" y="0"/>
            <a:chExt cx="1257212" cy="9722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85822" y="5830902"/>
            <a:ext cx="4773478" cy="3691578"/>
            <a:chOff x="0" y="0"/>
            <a:chExt cx="1257212" cy="9722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212" cy="972267"/>
            </a:xfrm>
            <a:custGeom>
              <a:avLst/>
              <a:gdLst/>
              <a:ahLst/>
              <a:cxnLst/>
              <a:rect r="r" b="b" t="t" l="l"/>
              <a:pathLst>
                <a:path h="972267" w="1257212">
                  <a:moveTo>
                    <a:pt x="22706" y="0"/>
                  </a:moveTo>
                  <a:lnTo>
                    <a:pt x="1234506" y="0"/>
                  </a:lnTo>
                  <a:cubicBezTo>
                    <a:pt x="1247046" y="0"/>
                    <a:pt x="1257212" y="10166"/>
                    <a:pt x="1257212" y="22706"/>
                  </a:cubicBezTo>
                  <a:lnTo>
                    <a:pt x="1257212" y="949561"/>
                  </a:lnTo>
                  <a:cubicBezTo>
                    <a:pt x="1257212" y="962102"/>
                    <a:pt x="1247046" y="972267"/>
                    <a:pt x="1234506" y="972267"/>
                  </a:cubicBezTo>
                  <a:lnTo>
                    <a:pt x="22706" y="972267"/>
                  </a:lnTo>
                  <a:cubicBezTo>
                    <a:pt x="10166" y="972267"/>
                    <a:pt x="0" y="962102"/>
                    <a:pt x="0" y="949561"/>
                  </a:cubicBezTo>
                  <a:lnTo>
                    <a:pt x="0" y="22706"/>
                  </a:lnTo>
                  <a:cubicBezTo>
                    <a:pt x="0" y="10166"/>
                    <a:pt x="10166" y="0"/>
                    <a:pt x="22706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66675"/>
              <a:ext cx="1257212" cy="90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60874" y="4203047"/>
            <a:ext cx="791495" cy="79149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91322" y="4203047"/>
            <a:ext cx="791495" cy="79149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60874" y="8151809"/>
            <a:ext cx="791495" cy="7914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091322" y="8151809"/>
            <a:ext cx="791495" cy="7914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EDE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200701" y="4381587"/>
            <a:ext cx="516936" cy="496258"/>
          </a:xfrm>
          <a:custGeom>
            <a:avLst/>
            <a:gdLst/>
            <a:ahLst/>
            <a:cxnLst/>
            <a:rect r="r" b="b" t="t" l="l"/>
            <a:pathLst>
              <a:path h="496258" w="516936">
                <a:moveTo>
                  <a:pt x="0" y="0"/>
                </a:moveTo>
                <a:lnTo>
                  <a:pt x="516935" y="0"/>
                </a:lnTo>
                <a:lnTo>
                  <a:pt x="516935" y="496259"/>
                </a:lnTo>
                <a:lnTo>
                  <a:pt x="0" y="4962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175044" y="4280901"/>
            <a:ext cx="624829" cy="576694"/>
          </a:xfrm>
          <a:custGeom>
            <a:avLst/>
            <a:gdLst/>
            <a:ahLst/>
            <a:cxnLst/>
            <a:rect r="r" b="b" t="t" l="l"/>
            <a:pathLst>
              <a:path h="576694" w="624829">
                <a:moveTo>
                  <a:pt x="0" y="0"/>
                </a:moveTo>
                <a:lnTo>
                  <a:pt x="624829" y="0"/>
                </a:lnTo>
                <a:lnTo>
                  <a:pt x="624829" y="576694"/>
                </a:lnTo>
                <a:lnTo>
                  <a:pt x="0" y="576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255032" y="8347979"/>
            <a:ext cx="438702" cy="428831"/>
          </a:xfrm>
          <a:custGeom>
            <a:avLst/>
            <a:gdLst/>
            <a:ahLst/>
            <a:cxnLst/>
            <a:rect r="r" b="b" t="t" l="l"/>
            <a:pathLst>
              <a:path h="428831" w="438702">
                <a:moveTo>
                  <a:pt x="0" y="0"/>
                </a:moveTo>
                <a:lnTo>
                  <a:pt x="438702" y="0"/>
                </a:lnTo>
                <a:lnTo>
                  <a:pt x="438702" y="428831"/>
                </a:lnTo>
                <a:lnTo>
                  <a:pt x="0" y="4288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194968" y="8315265"/>
            <a:ext cx="570714" cy="494021"/>
          </a:xfrm>
          <a:custGeom>
            <a:avLst/>
            <a:gdLst/>
            <a:ahLst/>
            <a:cxnLst/>
            <a:rect r="r" b="b" t="t" l="l"/>
            <a:pathLst>
              <a:path h="494021" w="570714">
                <a:moveTo>
                  <a:pt x="0" y="0"/>
                </a:moveTo>
                <a:lnTo>
                  <a:pt x="570714" y="0"/>
                </a:lnTo>
                <a:lnTo>
                  <a:pt x="570714" y="494021"/>
                </a:lnTo>
                <a:lnTo>
                  <a:pt x="0" y="4940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772622" y="812145"/>
            <a:ext cx="1405991" cy="24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9"/>
              </a:lnSpc>
            </a:pPr>
            <a:r>
              <a:rPr lang="en-US" b="true" sz="1933" spc="-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3299" y="2077673"/>
            <a:ext cx="5178565" cy="311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65"/>
              </a:lnSpc>
            </a:pPr>
            <a:r>
              <a:rPr lang="en-US" sz="8850" spc="-5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Entregáveis Finais da UC1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8278403"/>
            <a:ext cx="4992664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6"/>
              </a:lnSpc>
            </a:pPr>
            <a:r>
              <a:rPr lang="en-US" sz="193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Aula 12 | UC1: Planejar o Desenvolvimento de Software | Senac-RS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77343" y="2206240"/>
            <a:ext cx="3538070" cy="285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0"/>
              </a:lnSpc>
            </a:pPr>
            <a:r>
              <a:rPr lang="en-US" b="true" sz="225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Documento de Requisitos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77343" y="3035132"/>
            <a:ext cx="3946285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6"/>
              </a:lnSpc>
            </a:pPr>
            <a:r>
              <a:rPr lang="en-US" sz="1933" spc="-3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Completo com RF, RNF e Regras de Negócio documentados e revisados.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77343" y="4198763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✔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03526" y="2206240"/>
            <a:ext cx="3611907" cy="54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0"/>
              </a:lnSpc>
            </a:pPr>
            <a:r>
              <a:rPr lang="en-US" b="true" sz="225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Plano de Sprint</a:t>
            </a:r>
          </a:p>
          <a:p>
            <a:pPr algn="l" marL="0" indent="0" lvl="0">
              <a:lnSpc>
                <a:spcPts val="2030"/>
              </a:lnSpc>
            </a:pPr>
            <a:r>
              <a:rPr lang="en-US" b="true" sz="225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Backlog + Sprint Goal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03526" y="3035132"/>
            <a:ext cx="3946285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6"/>
              </a:lnSpc>
            </a:pPr>
            <a:r>
              <a:rPr lang="en-US" sz="1933" spc="-3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Sprint Backlog e Sprint Goal definidos conforme metodologia ágil.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03526" y="4198763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✔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077343" y="6207119"/>
            <a:ext cx="3538070" cy="54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0"/>
              </a:lnSpc>
            </a:pPr>
            <a:r>
              <a:rPr lang="en-US" b="true" sz="225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Stack de</a:t>
            </a:r>
          </a:p>
          <a:p>
            <a:pPr algn="l" marL="0" indent="0" lvl="0">
              <a:lnSpc>
                <a:spcPts val="2030"/>
              </a:lnSpc>
            </a:pPr>
            <a:r>
              <a:rPr lang="en-US" b="true" sz="225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Tecnologias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077343" y="7036011"/>
            <a:ext cx="3946285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6"/>
              </a:lnSpc>
            </a:pPr>
            <a:r>
              <a:rPr lang="en-US" sz="1933" spc="-3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Cada tecnologia com justificativa clara de 1-2 frases no documento.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77343" y="8199642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✔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03526" y="6207119"/>
            <a:ext cx="3029339" cy="54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0"/>
              </a:lnSpc>
            </a:pPr>
            <a:r>
              <a:rPr lang="en-US" b="true" sz="225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Currículo Dev</a:t>
            </a:r>
          </a:p>
          <a:p>
            <a:pPr algn="l" marL="487015" indent="-243508" lvl="1">
              <a:lnSpc>
                <a:spcPts val="2030"/>
              </a:lnSpc>
              <a:buFont typeface="Arial"/>
              <a:buChar char="•"/>
            </a:pPr>
            <a:r>
              <a:rPr lang="en-US" b="true" sz="225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Reflexão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03526" y="7036011"/>
            <a:ext cx="3946285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6"/>
              </a:lnSpc>
            </a:pPr>
            <a:r>
              <a:rPr lang="en-US" sz="1933" spc="-38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Rascunho do currículo e reflexão de carreira escritos individualmente.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03526" y="8199642"/>
            <a:ext cx="2759196" cy="98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4"/>
              </a:lnSpc>
            </a:pPr>
            <a:r>
              <a:rPr lang="en-US" sz="7994" spc="-479">
                <a:solidFill>
                  <a:srgbClr val="4D4848"/>
                </a:solidFill>
                <a:latin typeface="Aileron"/>
                <a:ea typeface="Aileron"/>
                <a:cs typeface="Aileron"/>
                <a:sym typeface="Aileron"/>
              </a:rPr>
              <a:t>✔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48976" y="737270"/>
            <a:ext cx="540049" cy="595916"/>
          </a:xfrm>
          <a:custGeom>
            <a:avLst/>
            <a:gdLst/>
            <a:ahLst/>
            <a:cxnLst/>
            <a:rect r="r" b="b" t="t" l="l"/>
            <a:pathLst>
              <a:path h="595916" w="540049">
                <a:moveTo>
                  <a:pt x="0" y="0"/>
                </a:moveTo>
                <a:lnTo>
                  <a:pt x="540049" y="0"/>
                </a:lnTo>
                <a:lnTo>
                  <a:pt x="540049" y="595916"/>
                </a:lnTo>
                <a:lnTo>
                  <a:pt x="0" y="5959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9442136">
            <a:off x="10052122" y="-353512"/>
            <a:ext cx="5250422" cy="3988133"/>
          </a:xfrm>
          <a:custGeom>
            <a:avLst/>
            <a:gdLst/>
            <a:ahLst/>
            <a:cxnLst/>
            <a:rect r="r" b="b" t="t" l="l"/>
            <a:pathLst>
              <a:path h="3988133" w="5250422">
                <a:moveTo>
                  <a:pt x="0" y="3988133"/>
                </a:moveTo>
                <a:lnTo>
                  <a:pt x="5250422" y="3988133"/>
                </a:lnTo>
                <a:lnTo>
                  <a:pt x="5250422" y="0"/>
                </a:lnTo>
                <a:lnTo>
                  <a:pt x="0" y="0"/>
                </a:lnTo>
                <a:lnTo>
                  <a:pt x="0" y="398813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0107" y="-122333"/>
            <a:ext cx="4088173" cy="6113156"/>
          </a:xfrm>
          <a:custGeom>
            <a:avLst/>
            <a:gdLst/>
            <a:ahLst/>
            <a:cxnLst/>
            <a:rect r="r" b="b" t="t" l="l"/>
            <a:pathLst>
              <a:path h="6113156" w="4088173">
                <a:moveTo>
                  <a:pt x="0" y="0"/>
                </a:moveTo>
                <a:lnTo>
                  <a:pt x="4088174" y="0"/>
                </a:lnTo>
                <a:lnTo>
                  <a:pt x="4088174" y="6113156"/>
                </a:lnTo>
                <a:lnTo>
                  <a:pt x="0" y="6113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090226" y="5295136"/>
            <a:ext cx="7106621" cy="1827290"/>
            <a:chOff x="0" y="0"/>
            <a:chExt cx="1871703" cy="4812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71703" cy="481262"/>
            </a:xfrm>
            <a:custGeom>
              <a:avLst/>
              <a:gdLst/>
              <a:ahLst/>
              <a:cxnLst/>
              <a:rect r="r" b="b" t="t" l="l"/>
              <a:pathLst>
                <a:path h="481262" w="1871703">
                  <a:moveTo>
                    <a:pt x="15252" y="0"/>
                  </a:moveTo>
                  <a:lnTo>
                    <a:pt x="1856451" y="0"/>
                  </a:lnTo>
                  <a:cubicBezTo>
                    <a:pt x="1860496" y="0"/>
                    <a:pt x="1864375" y="1607"/>
                    <a:pt x="1867236" y="4467"/>
                  </a:cubicBezTo>
                  <a:cubicBezTo>
                    <a:pt x="1870096" y="7327"/>
                    <a:pt x="1871703" y="11207"/>
                    <a:pt x="1871703" y="15252"/>
                  </a:cubicBezTo>
                  <a:lnTo>
                    <a:pt x="1871703" y="466010"/>
                  </a:lnTo>
                  <a:cubicBezTo>
                    <a:pt x="1871703" y="474433"/>
                    <a:pt x="1864874" y="481262"/>
                    <a:pt x="1856451" y="481262"/>
                  </a:cubicBezTo>
                  <a:lnTo>
                    <a:pt x="15252" y="481262"/>
                  </a:lnTo>
                  <a:cubicBezTo>
                    <a:pt x="11207" y="481262"/>
                    <a:pt x="7327" y="479655"/>
                    <a:pt x="4467" y="476795"/>
                  </a:cubicBezTo>
                  <a:cubicBezTo>
                    <a:pt x="1607" y="473934"/>
                    <a:pt x="0" y="470055"/>
                    <a:pt x="0" y="466010"/>
                  </a:cubicBezTo>
                  <a:lnTo>
                    <a:pt x="0" y="15252"/>
                  </a:lnTo>
                  <a:cubicBezTo>
                    <a:pt x="0" y="11207"/>
                    <a:pt x="1607" y="7327"/>
                    <a:pt x="4467" y="4467"/>
                  </a:cubicBezTo>
                  <a:cubicBezTo>
                    <a:pt x="7327" y="1607"/>
                    <a:pt x="11207" y="0"/>
                    <a:pt x="15252" y="0"/>
                  </a:cubicBezTo>
                  <a:close/>
                </a:path>
              </a:pathLst>
            </a:custGeom>
            <a:solidFill>
              <a:srgbClr val="F8F7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66675"/>
              <a:ext cx="1871703" cy="414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90226" y="7370076"/>
            <a:ext cx="7106621" cy="1888224"/>
            <a:chOff x="0" y="0"/>
            <a:chExt cx="1871703" cy="4973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71703" cy="497310"/>
            </a:xfrm>
            <a:custGeom>
              <a:avLst/>
              <a:gdLst/>
              <a:ahLst/>
              <a:cxnLst/>
              <a:rect r="r" b="b" t="t" l="l"/>
              <a:pathLst>
                <a:path h="497310" w="1871703">
                  <a:moveTo>
                    <a:pt x="15252" y="0"/>
                  </a:moveTo>
                  <a:lnTo>
                    <a:pt x="1856451" y="0"/>
                  </a:lnTo>
                  <a:cubicBezTo>
                    <a:pt x="1860496" y="0"/>
                    <a:pt x="1864375" y="1607"/>
                    <a:pt x="1867236" y="4467"/>
                  </a:cubicBezTo>
                  <a:cubicBezTo>
                    <a:pt x="1870096" y="7327"/>
                    <a:pt x="1871703" y="11207"/>
                    <a:pt x="1871703" y="15252"/>
                  </a:cubicBezTo>
                  <a:lnTo>
                    <a:pt x="1871703" y="482059"/>
                  </a:lnTo>
                  <a:cubicBezTo>
                    <a:pt x="1871703" y="486103"/>
                    <a:pt x="1870096" y="489983"/>
                    <a:pt x="1867236" y="492843"/>
                  </a:cubicBezTo>
                  <a:cubicBezTo>
                    <a:pt x="1864375" y="495703"/>
                    <a:pt x="1860496" y="497310"/>
                    <a:pt x="1856451" y="497310"/>
                  </a:cubicBezTo>
                  <a:lnTo>
                    <a:pt x="15252" y="497310"/>
                  </a:lnTo>
                  <a:cubicBezTo>
                    <a:pt x="11207" y="497310"/>
                    <a:pt x="7327" y="495703"/>
                    <a:pt x="4467" y="492843"/>
                  </a:cubicBezTo>
                  <a:cubicBezTo>
                    <a:pt x="1607" y="489983"/>
                    <a:pt x="0" y="486103"/>
                    <a:pt x="0" y="482059"/>
                  </a:cubicBezTo>
                  <a:lnTo>
                    <a:pt x="0" y="15252"/>
                  </a:lnTo>
                  <a:cubicBezTo>
                    <a:pt x="0" y="11207"/>
                    <a:pt x="1607" y="7327"/>
                    <a:pt x="4467" y="4467"/>
                  </a:cubicBezTo>
                  <a:cubicBezTo>
                    <a:pt x="7327" y="1607"/>
                    <a:pt x="11207" y="0"/>
                    <a:pt x="15252" y="0"/>
                  </a:cubicBezTo>
                  <a:close/>
                </a:path>
              </a:pathLst>
            </a:custGeom>
            <a:solidFill>
              <a:srgbClr val="CBFFA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66675"/>
              <a:ext cx="1871703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06396" y="5234202"/>
            <a:ext cx="4852904" cy="1888224"/>
            <a:chOff x="0" y="0"/>
            <a:chExt cx="1278131" cy="497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8131" cy="497310"/>
            </a:xfrm>
            <a:custGeom>
              <a:avLst/>
              <a:gdLst/>
              <a:ahLst/>
              <a:cxnLst/>
              <a:rect r="r" b="b" t="t" l="l"/>
              <a:pathLst>
                <a:path h="497310" w="1278131">
                  <a:moveTo>
                    <a:pt x="22334" y="0"/>
                  </a:moveTo>
                  <a:lnTo>
                    <a:pt x="1255797" y="0"/>
                  </a:lnTo>
                  <a:cubicBezTo>
                    <a:pt x="1268132" y="0"/>
                    <a:pt x="1278131" y="9999"/>
                    <a:pt x="1278131" y="22334"/>
                  </a:cubicBezTo>
                  <a:lnTo>
                    <a:pt x="1278131" y="474976"/>
                  </a:lnTo>
                  <a:cubicBezTo>
                    <a:pt x="1278131" y="480899"/>
                    <a:pt x="1275778" y="486580"/>
                    <a:pt x="1271589" y="490768"/>
                  </a:cubicBezTo>
                  <a:cubicBezTo>
                    <a:pt x="1267401" y="494957"/>
                    <a:pt x="1261720" y="497310"/>
                    <a:pt x="1255797" y="497310"/>
                  </a:cubicBezTo>
                  <a:lnTo>
                    <a:pt x="22334" y="497310"/>
                  </a:lnTo>
                  <a:cubicBezTo>
                    <a:pt x="9999" y="497310"/>
                    <a:pt x="0" y="487311"/>
                    <a:pt x="0" y="474976"/>
                  </a:cubicBezTo>
                  <a:lnTo>
                    <a:pt x="0" y="22334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4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1278131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733928" y="5514616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406396" y="7370076"/>
            <a:ext cx="4852904" cy="1888224"/>
            <a:chOff x="0" y="0"/>
            <a:chExt cx="1278131" cy="4973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78131" cy="497310"/>
            </a:xfrm>
            <a:custGeom>
              <a:avLst/>
              <a:gdLst/>
              <a:ahLst/>
              <a:cxnLst/>
              <a:rect r="r" b="b" t="t" l="l"/>
              <a:pathLst>
                <a:path h="497310" w="1278131">
                  <a:moveTo>
                    <a:pt x="22334" y="0"/>
                  </a:moveTo>
                  <a:lnTo>
                    <a:pt x="1255797" y="0"/>
                  </a:lnTo>
                  <a:cubicBezTo>
                    <a:pt x="1268132" y="0"/>
                    <a:pt x="1278131" y="9999"/>
                    <a:pt x="1278131" y="22334"/>
                  </a:cubicBezTo>
                  <a:lnTo>
                    <a:pt x="1278131" y="474976"/>
                  </a:lnTo>
                  <a:cubicBezTo>
                    <a:pt x="1278131" y="480899"/>
                    <a:pt x="1275778" y="486580"/>
                    <a:pt x="1271589" y="490768"/>
                  </a:cubicBezTo>
                  <a:cubicBezTo>
                    <a:pt x="1267401" y="494957"/>
                    <a:pt x="1261720" y="497310"/>
                    <a:pt x="1255797" y="497310"/>
                  </a:cubicBezTo>
                  <a:lnTo>
                    <a:pt x="22334" y="497310"/>
                  </a:lnTo>
                  <a:cubicBezTo>
                    <a:pt x="9999" y="497310"/>
                    <a:pt x="0" y="487311"/>
                    <a:pt x="0" y="474976"/>
                  </a:cubicBezTo>
                  <a:lnTo>
                    <a:pt x="0" y="22334"/>
                  </a:lnTo>
                  <a:cubicBezTo>
                    <a:pt x="0" y="16411"/>
                    <a:pt x="2353" y="10730"/>
                    <a:pt x="6542" y="6542"/>
                  </a:cubicBezTo>
                  <a:cubicBezTo>
                    <a:pt x="10730" y="2353"/>
                    <a:pt x="16411" y="0"/>
                    <a:pt x="22334" y="0"/>
                  </a:cubicBez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66675"/>
              <a:ext cx="1278131" cy="43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733928" y="7617464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01252" y="5570796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401252" y="7673644"/>
            <a:ext cx="747151" cy="747151"/>
          </a:xfrm>
          <a:custGeom>
            <a:avLst/>
            <a:gdLst/>
            <a:ahLst/>
            <a:cxnLst/>
            <a:rect r="r" b="b" t="t" l="l"/>
            <a:pathLst>
              <a:path h="747151" w="747151">
                <a:moveTo>
                  <a:pt x="0" y="0"/>
                </a:moveTo>
                <a:lnTo>
                  <a:pt x="747151" y="0"/>
                </a:lnTo>
                <a:lnTo>
                  <a:pt x="747151" y="747151"/>
                </a:lnTo>
                <a:lnTo>
                  <a:pt x="0" y="7471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033299" y="4687980"/>
            <a:ext cx="3239864" cy="4575703"/>
            <a:chOff x="0" y="0"/>
            <a:chExt cx="3267456" cy="46146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67456" cy="4618736"/>
            </a:xfrm>
            <a:custGeom>
              <a:avLst/>
              <a:gdLst/>
              <a:ahLst/>
              <a:cxnLst/>
              <a:rect r="r" b="b" t="t" l="l"/>
              <a:pathLst>
                <a:path h="4618736" w="3267456">
                  <a:moveTo>
                    <a:pt x="3267456" y="4618736"/>
                  </a:moveTo>
                  <a:lnTo>
                    <a:pt x="0" y="4618736"/>
                  </a:lnTo>
                  <a:lnTo>
                    <a:pt x="0" y="0"/>
                  </a:lnTo>
                  <a:lnTo>
                    <a:pt x="3267456" y="0"/>
                  </a:lnTo>
                  <a:lnTo>
                    <a:pt x="3267456" y="4618736"/>
                  </a:lnTo>
                  <a:close/>
                </a:path>
              </a:pathLst>
            </a:custGeom>
            <a:blipFill>
              <a:blip r:embed="rId9"/>
              <a:stretch>
                <a:fillRect l="-4" t="0" r="-4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44163" y="140959"/>
              <a:ext cx="2993427" cy="4317015"/>
            </a:xfrm>
            <a:custGeom>
              <a:avLst/>
              <a:gdLst/>
              <a:ahLst/>
              <a:cxnLst/>
              <a:rect r="r" b="b" t="t" l="l"/>
              <a:pathLst>
                <a:path h="4317015" w="2993427">
                  <a:moveTo>
                    <a:pt x="2993427" y="12700"/>
                  </a:moveTo>
                  <a:lnTo>
                    <a:pt x="2935892" y="4317015"/>
                  </a:lnTo>
                  <a:lnTo>
                    <a:pt x="0" y="4275547"/>
                  </a:lnTo>
                  <a:lnTo>
                    <a:pt x="0" y="0"/>
                  </a:lnTo>
                  <a:lnTo>
                    <a:pt x="2993427" y="12700"/>
                  </a:lnTo>
                  <a:close/>
                </a:path>
              </a:pathLst>
            </a:custGeom>
            <a:blipFill>
              <a:blip r:embed="rId10"/>
              <a:stretch>
                <a:fillRect l="-565" t="0" r="-565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772622" y="821670"/>
            <a:ext cx="1405991" cy="25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6"/>
              </a:lnSpc>
            </a:pPr>
            <a:r>
              <a:rPr lang="en-US" b="true" sz="2084" spc="-162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2190561"/>
            <a:ext cx="3922780" cy="169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98"/>
              </a:lnSpc>
            </a:pPr>
            <a:r>
              <a:rPr lang="en-US" sz="7109" spc="-42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Marcas Formativas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15103" y="5561187"/>
            <a:ext cx="5388951" cy="33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</a:pPr>
            <a:r>
              <a:rPr lang="en-US" b="true" sz="234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Domínio Técnico-Científico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15103" y="6006038"/>
            <a:ext cx="5781743" cy="71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7"/>
              </a:lnSpc>
            </a:pPr>
            <a:r>
              <a:rPr lang="en-US" sz="2084" spc="-4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Documentos de requisitos, stack justificado e sprint backlog estruturado com rigor técnico.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15103" y="7666248"/>
            <a:ext cx="5388951" cy="33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</a:pPr>
            <a:r>
              <a:rPr lang="en-US" b="true" sz="234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Atitude Empreendedora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5103" y="8172725"/>
            <a:ext cx="5565807" cy="71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7"/>
              </a:lnSpc>
            </a:pPr>
            <a:r>
              <a:rPr lang="en-US" sz="2084" spc="-4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Planejamento de carreira, currículo dev e projeto fictício tratado como startup real.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92970" y="5500640"/>
            <a:ext cx="2936533" cy="33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</a:pPr>
            <a:r>
              <a:rPr lang="en-US" b="true" sz="234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Visão Crítica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47779" y="5983441"/>
            <a:ext cx="3418847" cy="88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4"/>
              </a:lnSpc>
            </a:pPr>
            <a:r>
              <a:rPr lang="en-US" sz="3671" spc="-28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Estudo de caso + revisões cruzadas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92970" y="7636514"/>
            <a:ext cx="2936533" cy="33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</a:pPr>
            <a:r>
              <a:rPr lang="en-US" b="true" sz="234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Atitude Colaborativa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47779" y="8119315"/>
            <a:ext cx="3418847" cy="46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4"/>
              </a:lnSpc>
            </a:pPr>
            <a:r>
              <a:rPr lang="en-US" sz="3671" spc="-28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Scrum + entrevistas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90226" y="3422446"/>
            <a:ext cx="5533092" cy="71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7"/>
              </a:lnSpc>
            </a:pPr>
            <a:r>
              <a:rPr lang="en-US" sz="2084" spc="-41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Aula 12 | UC1: Planejar o Desenvolvimento de Software | Senac-RS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32944" y="2558571"/>
            <a:ext cx="4173031" cy="64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08"/>
              </a:lnSpc>
            </a:pPr>
            <a:r>
              <a:rPr lang="en-US" b="true" sz="2344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Onde vocês praticaram cada marca formativa na UC1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61891"/>
            <a:ext cx="6469063" cy="1158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5"/>
              </a:lnSpc>
            </a:pPr>
            <a:r>
              <a:rPr lang="en-US" sz="4895" spc="-29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Reflexão</a:t>
            </a:r>
          </a:p>
          <a:p>
            <a:pPr algn="l" marL="0" indent="0" lvl="0">
              <a:lnSpc>
                <a:spcPts val="4405"/>
              </a:lnSpc>
            </a:pPr>
            <a:r>
              <a:rPr lang="en-US" sz="4895" spc="-293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Final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9355" y="3263914"/>
            <a:ext cx="2772523" cy="1247193"/>
            <a:chOff x="0" y="0"/>
            <a:chExt cx="624482" cy="280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4482" cy="280917"/>
            </a:xfrm>
            <a:custGeom>
              <a:avLst/>
              <a:gdLst/>
              <a:ahLst/>
              <a:cxnLst/>
              <a:rect r="r" b="b" t="t" l="l"/>
              <a:pathLst>
                <a:path h="280917" w="624482">
                  <a:moveTo>
                    <a:pt x="0" y="0"/>
                  </a:moveTo>
                  <a:lnTo>
                    <a:pt x="624482" y="0"/>
                  </a:lnTo>
                  <a:lnTo>
                    <a:pt x="624482" y="280917"/>
                  </a:lnTo>
                  <a:lnTo>
                    <a:pt x="0" y="280917"/>
                  </a:ln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624482" cy="242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H="true" flipV="true">
            <a:off x="10153533" y="3067355"/>
            <a:ext cx="0" cy="44848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027714" y="2735281"/>
            <a:ext cx="251638" cy="25163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27714" y="5055181"/>
            <a:ext cx="251638" cy="25163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27714" y="7552217"/>
            <a:ext cx="251638" cy="25163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5151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9074831">
            <a:off x="3727065" y="7031154"/>
            <a:ext cx="5097911" cy="3872289"/>
          </a:xfrm>
          <a:custGeom>
            <a:avLst/>
            <a:gdLst/>
            <a:ahLst/>
            <a:cxnLst/>
            <a:rect r="r" b="b" t="t" l="l"/>
            <a:pathLst>
              <a:path h="3872289" w="5097911">
                <a:moveTo>
                  <a:pt x="5097912" y="0"/>
                </a:moveTo>
                <a:lnTo>
                  <a:pt x="0" y="0"/>
                </a:lnTo>
                <a:lnTo>
                  <a:pt x="0" y="3872289"/>
                </a:lnTo>
                <a:lnTo>
                  <a:pt x="5097912" y="3872289"/>
                </a:lnTo>
                <a:lnTo>
                  <a:pt x="50979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-317707">
            <a:off x="1085028" y="4949583"/>
            <a:ext cx="5743751" cy="4136170"/>
            <a:chOff x="0" y="0"/>
            <a:chExt cx="3136392" cy="2258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14300" y="125984"/>
              <a:ext cx="2882900" cy="1993900"/>
            </a:xfrm>
            <a:custGeom>
              <a:avLst/>
              <a:gdLst/>
              <a:ahLst/>
              <a:cxnLst/>
              <a:rect r="r" b="b" t="t" l="l"/>
              <a:pathLst>
                <a:path h="1993900" w="2882900">
                  <a:moveTo>
                    <a:pt x="2882900" y="1993900"/>
                  </a:moveTo>
                  <a:lnTo>
                    <a:pt x="0" y="1993900"/>
                  </a:lnTo>
                  <a:lnTo>
                    <a:pt x="0" y="0"/>
                  </a:lnTo>
                  <a:lnTo>
                    <a:pt x="2882900" y="0"/>
                  </a:lnTo>
                  <a:lnTo>
                    <a:pt x="2882900" y="1993900"/>
                  </a:lnTo>
                  <a:close/>
                </a:path>
              </a:pathLst>
            </a:custGeom>
            <a:blipFill>
              <a:blip r:embed="rId6"/>
              <a:stretch>
                <a:fillRect l="0" t="-695" r="0" b="-695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-1016"/>
              <a:ext cx="3136392" cy="2258568"/>
            </a:xfrm>
            <a:custGeom>
              <a:avLst/>
              <a:gdLst/>
              <a:ahLst/>
              <a:cxnLst/>
              <a:rect r="r" b="b" t="t" l="l"/>
              <a:pathLst>
                <a:path h="2258568" w="3136392">
                  <a:moveTo>
                    <a:pt x="3136392" y="2258568"/>
                  </a:moveTo>
                  <a:lnTo>
                    <a:pt x="0" y="2258568"/>
                  </a:lnTo>
                  <a:lnTo>
                    <a:pt x="0" y="0"/>
                  </a:lnTo>
                  <a:lnTo>
                    <a:pt x="3136392" y="0"/>
                  </a:lnTo>
                  <a:lnTo>
                    <a:pt x="3136392" y="2258568"/>
                  </a:lnTo>
                  <a:close/>
                </a:path>
              </a:pathLst>
            </a:custGeom>
            <a:blipFill>
              <a:blip r:embed="rId7"/>
              <a:stretch>
                <a:fillRect l="-8" t="0" r="-8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801597" y="6245465"/>
            <a:ext cx="2666923" cy="3292497"/>
          </a:xfrm>
          <a:custGeom>
            <a:avLst/>
            <a:gdLst/>
            <a:ahLst/>
            <a:cxnLst/>
            <a:rect r="r" b="b" t="t" l="l"/>
            <a:pathLst>
              <a:path h="3292497" w="2666923">
                <a:moveTo>
                  <a:pt x="0" y="0"/>
                </a:moveTo>
                <a:lnTo>
                  <a:pt x="2666923" y="0"/>
                </a:lnTo>
                <a:lnTo>
                  <a:pt x="2666923" y="3292497"/>
                </a:lnTo>
                <a:lnTo>
                  <a:pt x="0" y="32924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72622" y="802620"/>
            <a:ext cx="1405991" cy="581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7"/>
              </a:lnSpc>
            </a:pPr>
            <a:r>
              <a:rPr lang="en-US" b="true" sz="1305" spc="-10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Aula 12 | UC1: Planejar o Desenvolvimento de Software | Senac-RS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9355" y="3282294"/>
            <a:ext cx="2772523" cy="60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405"/>
              </a:lnSpc>
            </a:pPr>
            <a:r>
              <a:rPr lang="en-US" b="true" sz="4895" spc="-29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UC1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34118" y="2652486"/>
            <a:ext cx="3538070" cy="19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0"/>
              </a:lnSpc>
            </a:pPr>
            <a:r>
              <a:rPr lang="en-US" b="true" sz="152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 que você aprendeu?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34118" y="3280889"/>
            <a:ext cx="6625182" cy="45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7"/>
              </a:lnSpc>
            </a:pPr>
            <a:r>
              <a:rPr lang="en-US" sz="1305" spc="-2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 que você sabia fazer há 3 semanas que não sabia antes? Pense nos conceitos, ferramentas e práticas que você domina hoje.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34118" y="4968697"/>
            <a:ext cx="4674270" cy="19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0"/>
              </a:lnSpc>
            </a:pPr>
            <a:r>
              <a:rPr lang="en-US" b="true" sz="152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Qual foi o maior desafio?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34118" y="5597100"/>
            <a:ext cx="6625182" cy="45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7"/>
              </a:lnSpc>
            </a:pPr>
            <a:r>
              <a:rPr lang="en-US" sz="1305" spc="-2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Qual foi o momento mais desafiador da UC1? O que ele te ensinou sobre você mesmo e sobre trabalho em equipe?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34118" y="7463275"/>
            <a:ext cx="5551225" cy="191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70"/>
              </a:lnSpc>
            </a:pPr>
            <a:r>
              <a:rPr lang="en-US" b="true" sz="152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 que quer aprofundar?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34118" y="8091679"/>
            <a:ext cx="6625182" cy="45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7"/>
              </a:lnSpc>
            </a:pPr>
            <a:r>
              <a:rPr lang="en-US" sz="1305" spc="-2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 que quer explorar nas próximas UCs? Algoritmos, banco de dados ou programação? Escreva sua resposta agora.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13765">
            <a:off x="7079818" y="-1591052"/>
            <a:ext cx="13043192" cy="8151995"/>
          </a:xfrm>
          <a:custGeom>
            <a:avLst/>
            <a:gdLst/>
            <a:ahLst/>
            <a:cxnLst/>
            <a:rect r="r" b="b" t="t" l="l"/>
            <a:pathLst>
              <a:path h="8151995" w="13043192">
                <a:moveTo>
                  <a:pt x="0" y="0"/>
                </a:moveTo>
                <a:lnTo>
                  <a:pt x="13043192" y="0"/>
                </a:lnTo>
                <a:lnTo>
                  <a:pt x="13043192" y="8151995"/>
                </a:lnTo>
                <a:lnTo>
                  <a:pt x="0" y="8151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4717" y="5687673"/>
            <a:ext cx="14622731" cy="159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09"/>
              </a:lnSpc>
            </a:pPr>
            <a:r>
              <a:rPr lang="en-US" sz="12899" spc="-103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Desenvolver Algoritmos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6715433" y="770845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6310" y="3452334"/>
            <a:ext cx="6060353" cy="2286028"/>
            <a:chOff x="0" y="0"/>
            <a:chExt cx="1365031" cy="5149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5032" cy="514904"/>
            </a:xfrm>
            <a:custGeom>
              <a:avLst/>
              <a:gdLst/>
              <a:ahLst/>
              <a:cxnLst/>
              <a:rect r="r" b="b" t="t" l="l"/>
              <a:pathLst>
                <a:path h="514904" w="1365032">
                  <a:moveTo>
                    <a:pt x="0" y="0"/>
                  </a:moveTo>
                  <a:lnTo>
                    <a:pt x="1365032" y="0"/>
                  </a:lnTo>
                  <a:lnTo>
                    <a:pt x="1365032" y="514904"/>
                  </a:lnTo>
                  <a:lnTo>
                    <a:pt x="0" y="514904"/>
                  </a:lnTo>
                  <a:close/>
                </a:path>
              </a:pathLst>
            </a:custGeom>
            <a:solidFill>
              <a:srgbClr val="CDC1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365031" cy="476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32570" y="-773070"/>
            <a:ext cx="5628128" cy="8725780"/>
          </a:xfrm>
          <a:custGeom>
            <a:avLst/>
            <a:gdLst/>
            <a:ahLst/>
            <a:cxnLst/>
            <a:rect r="r" b="b" t="t" l="l"/>
            <a:pathLst>
              <a:path h="8725780" w="5628128">
                <a:moveTo>
                  <a:pt x="0" y="0"/>
                </a:moveTo>
                <a:lnTo>
                  <a:pt x="5628128" y="0"/>
                </a:lnTo>
                <a:lnTo>
                  <a:pt x="5628128" y="8725780"/>
                </a:lnTo>
                <a:lnTo>
                  <a:pt x="0" y="87257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9339" y="3442476"/>
            <a:ext cx="5943157" cy="1598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609"/>
              </a:lnSpc>
            </a:pPr>
            <a:r>
              <a:rPr lang="en-US" b="true" sz="12899" spc="-103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UC2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2622" y="754227"/>
            <a:ext cx="1385710" cy="15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7"/>
              </a:lnSpc>
            </a:pPr>
            <a:r>
              <a:rPr lang="en-US" b="true" sz="1305" spc="-10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9236" y="8755730"/>
            <a:ext cx="4250064" cy="15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87"/>
              </a:lnSpc>
            </a:pPr>
            <a:r>
              <a:rPr lang="en-US" b="true" sz="1305" spc="-10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Aula 12 | UC1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299" y="8755730"/>
            <a:ext cx="4250064" cy="15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7"/>
              </a:lnSpc>
            </a:pPr>
            <a:r>
              <a:rPr lang="en-US" b="true" sz="1305" spc="-10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19/09/2025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8112" y="8934357"/>
            <a:ext cx="5320974" cy="29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7"/>
              </a:lnSpc>
            </a:pPr>
            <a:r>
              <a:rPr lang="en-US" b="true" sz="1305" spc="-10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Vocês aprenderam a planejar O QUE construir. A partir da próxima UC, aprendem a construir de verdade — começando pela lógica que dá vida ao código.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6715433" y="819238"/>
            <a:ext cx="543867" cy="543867"/>
          </a:xfrm>
          <a:custGeom>
            <a:avLst/>
            <a:gdLst/>
            <a:ahLst/>
            <a:cxnLst/>
            <a:rect r="r" b="b" t="t" l="l"/>
            <a:pathLst>
              <a:path h="543867" w="543867">
                <a:moveTo>
                  <a:pt x="0" y="0"/>
                </a:moveTo>
                <a:lnTo>
                  <a:pt x="543867" y="0"/>
                </a:lnTo>
                <a:lnTo>
                  <a:pt x="543867" y="543867"/>
                </a:lnTo>
                <a:lnTo>
                  <a:pt x="0" y="543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13765">
            <a:off x="8916590" y="-1736009"/>
            <a:ext cx="7938068" cy="6029624"/>
          </a:xfrm>
          <a:custGeom>
            <a:avLst/>
            <a:gdLst/>
            <a:ahLst/>
            <a:cxnLst/>
            <a:rect r="r" b="b" t="t" l="l"/>
            <a:pathLst>
              <a:path h="6029624" w="7938068">
                <a:moveTo>
                  <a:pt x="0" y="0"/>
                </a:moveTo>
                <a:lnTo>
                  <a:pt x="7938068" y="0"/>
                </a:lnTo>
                <a:lnTo>
                  <a:pt x="7938068" y="6029624"/>
                </a:lnTo>
                <a:lnTo>
                  <a:pt x="0" y="6029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678836" y="8403777"/>
            <a:ext cx="5387687" cy="787848"/>
            <a:chOff x="0" y="0"/>
            <a:chExt cx="1418979" cy="2074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8979" cy="207499"/>
            </a:xfrm>
            <a:custGeom>
              <a:avLst/>
              <a:gdLst/>
              <a:ahLst/>
              <a:cxnLst/>
              <a:rect r="r" b="b" t="t" l="l"/>
              <a:pathLst>
                <a:path h="207499" w="1418979">
                  <a:moveTo>
                    <a:pt x="64663" y="0"/>
                  </a:moveTo>
                  <a:lnTo>
                    <a:pt x="1354316" y="0"/>
                  </a:lnTo>
                  <a:cubicBezTo>
                    <a:pt x="1371466" y="0"/>
                    <a:pt x="1387913" y="6813"/>
                    <a:pt x="1400040" y="18939"/>
                  </a:cubicBezTo>
                  <a:cubicBezTo>
                    <a:pt x="1412167" y="31066"/>
                    <a:pt x="1418979" y="47514"/>
                    <a:pt x="1418979" y="64663"/>
                  </a:cubicBezTo>
                  <a:lnTo>
                    <a:pt x="1418979" y="142836"/>
                  </a:lnTo>
                  <a:cubicBezTo>
                    <a:pt x="1418979" y="159985"/>
                    <a:pt x="1412167" y="176433"/>
                    <a:pt x="1400040" y="188560"/>
                  </a:cubicBezTo>
                  <a:cubicBezTo>
                    <a:pt x="1387913" y="200686"/>
                    <a:pt x="1371466" y="207499"/>
                    <a:pt x="1354316" y="207499"/>
                  </a:cubicBezTo>
                  <a:lnTo>
                    <a:pt x="64663" y="207499"/>
                  </a:lnTo>
                  <a:cubicBezTo>
                    <a:pt x="47514" y="207499"/>
                    <a:pt x="31066" y="200686"/>
                    <a:pt x="18939" y="188560"/>
                  </a:cubicBezTo>
                  <a:cubicBezTo>
                    <a:pt x="6813" y="176433"/>
                    <a:pt x="0" y="159985"/>
                    <a:pt x="0" y="142836"/>
                  </a:cubicBezTo>
                  <a:lnTo>
                    <a:pt x="0" y="64663"/>
                  </a:lnTo>
                  <a:cubicBezTo>
                    <a:pt x="0" y="47514"/>
                    <a:pt x="6813" y="31066"/>
                    <a:pt x="18939" y="18939"/>
                  </a:cubicBezTo>
                  <a:cubicBezTo>
                    <a:pt x="31066" y="6813"/>
                    <a:pt x="47514" y="0"/>
                    <a:pt x="64663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66675"/>
              <a:ext cx="1418979" cy="140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21477" y="8403777"/>
            <a:ext cx="5387687" cy="787848"/>
            <a:chOff x="0" y="0"/>
            <a:chExt cx="1418979" cy="2074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8979" cy="207499"/>
            </a:xfrm>
            <a:custGeom>
              <a:avLst/>
              <a:gdLst/>
              <a:ahLst/>
              <a:cxnLst/>
              <a:rect r="r" b="b" t="t" l="l"/>
              <a:pathLst>
                <a:path h="207499" w="1418979">
                  <a:moveTo>
                    <a:pt x="64663" y="0"/>
                  </a:moveTo>
                  <a:lnTo>
                    <a:pt x="1354316" y="0"/>
                  </a:lnTo>
                  <a:cubicBezTo>
                    <a:pt x="1371466" y="0"/>
                    <a:pt x="1387913" y="6813"/>
                    <a:pt x="1400040" y="18939"/>
                  </a:cubicBezTo>
                  <a:cubicBezTo>
                    <a:pt x="1412167" y="31066"/>
                    <a:pt x="1418979" y="47514"/>
                    <a:pt x="1418979" y="64663"/>
                  </a:cubicBezTo>
                  <a:lnTo>
                    <a:pt x="1418979" y="142836"/>
                  </a:lnTo>
                  <a:cubicBezTo>
                    <a:pt x="1418979" y="159985"/>
                    <a:pt x="1412167" y="176433"/>
                    <a:pt x="1400040" y="188560"/>
                  </a:cubicBezTo>
                  <a:cubicBezTo>
                    <a:pt x="1387913" y="200686"/>
                    <a:pt x="1371466" y="207499"/>
                    <a:pt x="1354316" y="207499"/>
                  </a:cubicBezTo>
                  <a:lnTo>
                    <a:pt x="64663" y="207499"/>
                  </a:lnTo>
                  <a:cubicBezTo>
                    <a:pt x="47514" y="207499"/>
                    <a:pt x="31066" y="200686"/>
                    <a:pt x="18939" y="188560"/>
                  </a:cubicBezTo>
                  <a:cubicBezTo>
                    <a:pt x="6813" y="176433"/>
                    <a:pt x="0" y="159985"/>
                    <a:pt x="0" y="142836"/>
                  </a:cubicBezTo>
                  <a:lnTo>
                    <a:pt x="0" y="64663"/>
                  </a:lnTo>
                  <a:cubicBezTo>
                    <a:pt x="0" y="47514"/>
                    <a:pt x="6813" y="31066"/>
                    <a:pt x="18939" y="18939"/>
                  </a:cubicBezTo>
                  <a:cubicBezTo>
                    <a:pt x="31066" y="6813"/>
                    <a:pt x="47514" y="0"/>
                    <a:pt x="64663" y="0"/>
                  </a:cubicBezTo>
                  <a:close/>
                </a:path>
              </a:pathLst>
            </a:custGeom>
            <a:solidFill>
              <a:srgbClr val="FEBE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66675"/>
              <a:ext cx="1418979" cy="140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84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683355" y="8524784"/>
            <a:ext cx="526784" cy="526784"/>
          </a:xfrm>
          <a:custGeom>
            <a:avLst/>
            <a:gdLst/>
            <a:ahLst/>
            <a:cxnLst/>
            <a:rect r="r" b="b" t="t" l="l"/>
            <a:pathLst>
              <a:path h="526784" w="526784">
                <a:moveTo>
                  <a:pt x="0" y="0"/>
                </a:moveTo>
                <a:lnTo>
                  <a:pt x="526785" y="0"/>
                </a:lnTo>
                <a:lnTo>
                  <a:pt x="526785" y="526784"/>
                </a:lnTo>
                <a:lnTo>
                  <a:pt x="0" y="5267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891374" y="8520603"/>
            <a:ext cx="526784" cy="526784"/>
          </a:xfrm>
          <a:custGeom>
            <a:avLst/>
            <a:gdLst/>
            <a:ahLst/>
            <a:cxnLst/>
            <a:rect r="r" b="b" t="t" l="l"/>
            <a:pathLst>
              <a:path h="526784" w="526784">
                <a:moveTo>
                  <a:pt x="0" y="0"/>
                </a:moveTo>
                <a:lnTo>
                  <a:pt x="526784" y="0"/>
                </a:lnTo>
                <a:lnTo>
                  <a:pt x="526784" y="526785"/>
                </a:lnTo>
                <a:lnTo>
                  <a:pt x="0" y="5267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6" y="5635484"/>
            <a:ext cx="2897781" cy="3863708"/>
          </a:xfrm>
          <a:custGeom>
            <a:avLst/>
            <a:gdLst/>
            <a:ahLst/>
            <a:cxnLst/>
            <a:rect r="r" b="b" t="t" l="l"/>
            <a:pathLst>
              <a:path h="3863708" w="2897781">
                <a:moveTo>
                  <a:pt x="0" y="0"/>
                </a:moveTo>
                <a:lnTo>
                  <a:pt x="2897781" y="0"/>
                </a:lnTo>
                <a:lnTo>
                  <a:pt x="2897781" y="3863707"/>
                </a:lnTo>
                <a:lnTo>
                  <a:pt x="0" y="38637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64993" y="3450090"/>
            <a:ext cx="13558014" cy="292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1"/>
              </a:lnSpc>
            </a:pPr>
            <a:r>
              <a:rPr lang="en-US" sz="9306" spc="-744">
                <a:solidFill>
                  <a:srgbClr val="CDC1FF"/>
                </a:solidFill>
                <a:latin typeface="Aileron"/>
                <a:ea typeface="Aileron"/>
                <a:cs typeface="Aileron"/>
                <a:sym typeface="Aileron"/>
              </a:rPr>
              <a:t>Vocês aprenderam</a:t>
            </a:r>
          </a:p>
          <a:p>
            <a:pPr algn="ctr" marL="0" indent="0" lvl="0">
              <a:lnSpc>
                <a:spcPts val="7351"/>
              </a:lnSpc>
            </a:pPr>
            <a:r>
              <a:rPr lang="en-US" sz="9306" spc="-744">
                <a:solidFill>
                  <a:srgbClr val="CDC1FF"/>
                </a:solidFill>
                <a:latin typeface="Aileron"/>
                <a:ea typeface="Aileron"/>
                <a:cs typeface="Aileron"/>
                <a:sym typeface="Aileron"/>
              </a:rPr>
              <a:t>a pensar antes</a:t>
            </a:r>
          </a:p>
          <a:p>
            <a:pPr algn="ctr" marL="0" indent="0" lvl="0">
              <a:lnSpc>
                <a:spcPts val="7351"/>
              </a:lnSpc>
            </a:pPr>
            <a:r>
              <a:rPr lang="en-US" sz="9306" spc="-744">
                <a:solidFill>
                  <a:srgbClr val="CDC1FF"/>
                </a:solidFill>
                <a:latin typeface="Aileron"/>
                <a:ea typeface="Aileron"/>
                <a:cs typeface="Aileron"/>
                <a:sym typeface="Aileron"/>
              </a:rPr>
              <a:t>de programar.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858121" y="7599198"/>
            <a:ext cx="1456069" cy="1664078"/>
          </a:xfrm>
          <a:custGeom>
            <a:avLst/>
            <a:gdLst/>
            <a:ahLst/>
            <a:cxnLst/>
            <a:rect r="r" b="b" t="t" l="l"/>
            <a:pathLst>
              <a:path h="1664078" w="1456069">
                <a:moveTo>
                  <a:pt x="0" y="0"/>
                </a:moveTo>
                <a:lnTo>
                  <a:pt x="1456068" y="0"/>
                </a:lnTo>
                <a:lnTo>
                  <a:pt x="1456068" y="1664078"/>
                </a:lnTo>
                <a:lnTo>
                  <a:pt x="0" y="16640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2622" y="802620"/>
            <a:ext cx="1405991" cy="16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3"/>
              </a:lnSpc>
            </a:pPr>
            <a:r>
              <a:rPr lang="en-US" b="true" sz="1355" spc="-105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Senac-RS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79363" y="6123019"/>
            <a:ext cx="10129274" cy="21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2"/>
              </a:lnSpc>
            </a:pPr>
            <a:r>
              <a:rPr lang="en-US" sz="1694" i="true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E isso vale para o resto da carreira.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21721" y="8623711"/>
            <a:ext cx="3826038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4"/>
              </a:lnSpc>
            </a:pPr>
            <a:r>
              <a:rPr lang="en-US" sz="179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Senac-RS — Turma 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08307" y="7704713"/>
            <a:ext cx="4271387" cy="31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3"/>
              </a:lnSpc>
            </a:pPr>
            <a:r>
              <a:rPr lang="en-US" b="true" sz="1355" u="sng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UC1 — PLANEJAR O DESENVOLVIMENTO DE SOFTWARE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13702" y="8623711"/>
            <a:ext cx="3921180" cy="25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4"/>
              </a:lnSpc>
            </a:pPr>
            <a:r>
              <a:rPr lang="en-US" sz="179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Obrigado pela jornada. Foi uma honra.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40269" y="716127"/>
            <a:ext cx="557598" cy="640917"/>
          </a:xfrm>
          <a:custGeom>
            <a:avLst/>
            <a:gdLst/>
            <a:ahLst/>
            <a:cxnLst/>
            <a:rect r="r" b="b" t="t" l="l"/>
            <a:pathLst>
              <a:path h="640917" w="557598">
                <a:moveTo>
                  <a:pt x="0" y="0"/>
                </a:moveTo>
                <a:lnTo>
                  <a:pt x="557597" y="0"/>
                </a:lnTo>
                <a:lnTo>
                  <a:pt x="557597" y="640917"/>
                </a:lnTo>
                <a:lnTo>
                  <a:pt x="0" y="640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DAHVfi_tY-o</dc:identifier>
  <dcterms:modified xsi:type="dcterms:W3CDTF">2011-08-01T06:04:30Z</dcterms:modified>
  <cp:revision>1</cp:revision>
  <dc:title>UC1: Planejar o Desenvolvimento de Software - Slide Deck
</dc:title>
</cp:coreProperties>
</file>